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Agrandir Wide Bold" charset="1" panose="00000805000000000000"/>
      <p:regular r:id="rId15"/>
    </p:embeddedFont>
    <p:embeddedFont>
      <p:font typeface="Nunito" charset="1" panose="00000000000000000000"/>
      <p:regular r:id="rId16"/>
    </p:embeddedFont>
    <p:embeddedFont>
      <p:font typeface="Nunito Semi-Bold" charset="1" panose="00000000000000000000"/>
      <p:regular r:id="rId17"/>
    </p:embeddedFont>
    <p:embeddedFont>
      <p:font typeface="Roboto Bold" charset="1" panose="02000000000000000000"/>
      <p:regular r:id="rId18"/>
    </p:embeddedFont>
    <p:embeddedFont>
      <p:font typeface="Nunito Bold" charset="1" panose="00000000000000000000"/>
      <p:regular r:id="rId19"/>
    </p:embeddedFont>
    <p:embeddedFont>
      <p:font typeface="Noto Sans" charset="1" panose="020B0502040504020204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13" Target="../media/image12.svg" Type="http://schemas.openxmlformats.org/officeDocument/2006/relationships/image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svg" Type="http://schemas.openxmlformats.org/officeDocument/2006/relationships/image"/><Relationship Id="rId6" Target="../media/image5.sv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4.png" Type="http://schemas.openxmlformats.org/officeDocument/2006/relationships/image"/><Relationship Id="rId4" Target="../media/image1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Relationship Id="rId3" Target="../embeddings/oleObject1.bin" Type="http://schemas.openxmlformats.org/officeDocument/2006/relationships/oleObjec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259300" y="0"/>
            <a:ext cx="3086100" cy="10287000"/>
            <a:chOff x="0" y="0"/>
            <a:chExt cx="812800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2709333"/>
            </a:xfrm>
            <a:custGeom>
              <a:avLst/>
              <a:gdLst/>
              <a:ahLst/>
              <a:cxnLst/>
              <a:rect r="r" b="b" t="t" l="l"/>
              <a:pathLst>
                <a:path h="2709333" w="812800">
                  <a:moveTo>
                    <a:pt x="90311" y="0"/>
                  </a:moveTo>
                  <a:lnTo>
                    <a:pt x="722489" y="0"/>
                  </a:lnTo>
                  <a:cubicBezTo>
                    <a:pt x="746441" y="0"/>
                    <a:pt x="769412" y="9515"/>
                    <a:pt x="786348" y="26452"/>
                  </a:cubicBezTo>
                  <a:cubicBezTo>
                    <a:pt x="803285" y="43388"/>
                    <a:pt x="812800" y="66359"/>
                    <a:pt x="812800" y="90311"/>
                  </a:cubicBezTo>
                  <a:lnTo>
                    <a:pt x="812800" y="2619022"/>
                  </a:lnTo>
                  <a:cubicBezTo>
                    <a:pt x="812800" y="2642974"/>
                    <a:pt x="803285" y="2665945"/>
                    <a:pt x="786348" y="2682882"/>
                  </a:cubicBezTo>
                  <a:cubicBezTo>
                    <a:pt x="769412" y="2699818"/>
                    <a:pt x="746441" y="2709333"/>
                    <a:pt x="722489" y="2709333"/>
                  </a:cubicBezTo>
                  <a:lnTo>
                    <a:pt x="90311" y="2709333"/>
                  </a:lnTo>
                  <a:cubicBezTo>
                    <a:pt x="40434" y="2709333"/>
                    <a:pt x="0" y="2668900"/>
                    <a:pt x="0" y="2619022"/>
                  </a:cubicBezTo>
                  <a:lnTo>
                    <a:pt x="0" y="90311"/>
                  </a:lnTo>
                  <a:cubicBezTo>
                    <a:pt x="0" y="66359"/>
                    <a:pt x="9515" y="43388"/>
                    <a:pt x="26452" y="26452"/>
                  </a:cubicBezTo>
                  <a:cubicBezTo>
                    <a:pt x="43388" y="9515"/>
                    <a:pt x="66359" y="0"/>
                    <a:pt x="90311" y="0"/>
                  </a:cubicBezTo>
                  <a:close/>
                </a:path>
              </a:pathLst>
            </a:custGeom>
            <a:solidFill>
              <a:srgbClr val="30387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812800" cy="2804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5213826" y="2462493"/>
            <a:ext cx="7039659" cy="27315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737"/>
              </a:lnSpc>
            </a:pPr>
            <a:r>
              <a:rPr lang="en-US" sz="15559" b="true">
                <a:solidFill>
                  <a:srgbClr val="303870"/>
                </a:solidFill>
                <a:latin typeface="Agrandir Wide Bold"/>
                <a:ea typeface="Agrandir Wide Bold"/>
                <a:cs typeface="Agrandir Wide Bold"/>
                <a:sym typeface="Agrandir Wide Bold"/>
              </a:rPr>
              <a:t>REDIS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882340" y="5194003"/>
            <a:ext cx="11702631" cy="838151"/>
            <a:chOff x="0" y="0"/>
            <a:chExt cx="3082175" cy="22074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082174" cy="220747"/>
            </a:xfrm>
            <a:custGeom>
              <a:avLst/>
              <a:gdLst/>
              <a:ahLst/>
              <a:cxnLst/>
              <a:rect r="r" b="b" t="t" l="l"/>
              <a:pathLst>
                <a:path h="220747" w="3082174">
                  <a:moveTo>
                    <a:pt x="66155" y="0"/>
                  </a:moveTo>
                  <a:lnTo>
                    <a:pt x="3016019" y="0"/>
                  </a:lnTo>
                  <a:cubicBezTo>
                    <a:pt x="3052556" y="0"/>
                    <a:pt x="3082174" y="29619"/>
                    <a:pt x="3082174" y="66155"/>
                  </a:cubicBezTo>
                  <a:lnTo>
                    <a:pt x="3082174" y="154592"/>
                  </a:lnTo>
                  <a:cubicBezTo>
                    <a:pt x="3082174" y="172138"/>
                    <a:pt x="3075205" y="188964"/>
                    <a:pt x="3062798" y="201371"/>
                  </a:cubicBezTo>
                  <a:cubicBezTo>
                    <a:pt x="3050392" y="213778"/>
                    <a:pt x="3033565" y="220747"/>
                    <a:pt x="3016019" y="220747"/>
                  </a:cubicBezTo>
                  <a:lnTo>
                    <a:pt x="66155" y="220747"/>
                  </a:lnTo>
                  <a:cubicBezTo>
                    <a:pt x="29619" y="220747"/>
                    <a:pt x="0" y="191129"/>
                    <a:pt x="0" y="154592"/>
                  </a:cubicBezTo>
                  <a:lnTo>
                    <a:pt x="0" y="66155"/>
                  </a:lnTo>
                  <a:cubicBezTo>
                    <a:pt x="0" y="29619"/>
                    <a:pt x="29619" y="0"/>
                    <a:pt x="66155" y="0"/>
                  </a:cubicBezTo>
                  <a:close/>
                </a:path>
              </a:pathLst>
            </a:custGeom>
            <a:ln w="38100" cap="rnd">
              <a:solidFill>
                <a:srgbClr val="30387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95250"/>
              <a:ext cx="3082175" cy="3159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2882340" y="5300845"/>
            <a:ext cx="10749435" cy="5577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22"/>
              </a:lnSpc>
            </a:pPr>
            <a:r>
              <a:rPr lang="en-US" sz="3230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Tối Ưu Hiệu Năng Hệ Thống Phân Tán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277779" y="6905269"/>
            <a:ext cx="3910562" cy="559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40"/>
              </a:lnSpc>
            </a:pPr>
            <a:r>
              <a:rPr lang="en-US" sz="3243" b="true">
                <a:solidFill>
                  <a:srgbClr val="303870"/>
                </a:solidFill>
                <a:latin typeface="Nunito Semi-Bold"/>
                <a:ea typeface="Nunito Semi-Bold"/>
                <a:cs typeface="Nunito Semi-Bold"/>
                <a:sym typeface="Nunito Semi-Bold"/>
              </a:rPr>
              <a:t>In-Memory Engine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778375" y="6905269"/>
            <a:ext cx="3910562" cy="559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40"/>
              </a:lnSpc>
            </a:pPr>
            <a:r>
              <a:rPr lang="en-US" sz="3243" b="true">
                <a:solidFill>
                  <a:srgbClr val="303870"/>
                </a:solidFill>
                <a:latin typeface="Nunito Semi-Bold"/>
                <a:ea typeface="Nunito Semi-Bold"/>
                <a:cs typeface="Nunito Semi-Bold"/>
                <a:sym typeface="Nunito Semi-Bold"/>
              </a:rPr>
              <a:t>Độ Trễ Dưới 1ms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278970" y="6905269"/>
            <a:ext cx="3910562" cy="559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40"/>
              </a:lnSpc>
            </a:pPr>
            <a:r>
              <a:rPr lang="en-US" sz="3243" b="true">
                <a:solidFill>
                  <a:srgbClr val="303870"/>
                </a:solidFill>
                <a:latin typeface="Nunito Semi-Bold"/>
                <a:ea typeface="Nunito Semi-Bold"/>
                <a:cs typeface="Nunito Semi-Bold"/>
                <a:sym typeface="Nunito Semi-Bold"/>
              </a:rPr>
              <a:t>Triển Khai 1-Chạm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5638" r="0" b="-75638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303817" y="-135218"/>
            <a:ext cx="18478504" cy="10557436"/>
            <a:chOff x="0" y="0"/>
            <a:chExt cx="4866766" cy="278055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866767" cy="2780559"/>
            </a:xfrm>
            <a:custGeom>
              <a:avLst/>
              <a:gdLst/>
              <a:ahLst/>
              <a:cxnLst/>
              <a:rect r="r" b="b" t="t" l="l"/>
              <a:pathLst>
                <a:path h="2780559" w="4866767">
                  <a:moveTo>
                    <a:pt x="21367" y="0"/>
                  </a:moveTo>
                  <a:lnTo>
                    <a:pt x="4845399" y="0"/>
                  </a:lnTo>
                  <a:cubicBezTo>
                    <a:pt x="4851066" y="0"/>
                    <a:pt x="4856501" y="2251"/>
                    <a:pt x="4860508" y="6258"/>
                  </a:cubicBezTo>
                  <a:cubicBezTo>
                    <a:pt x="4864515" y="10266"/>
                    <a:pt x="4866767" y="15700"/>
                    <a:pt x="4866767" y="21367"/>
                  </a:cubicBezTo>
                  <a:lnTo>
                    <a:pt x="4866767" y="2759192"/>
                  </a:lnTo>
                  <a:cubicBezTo>
                    <a:pt x="4866767" y="2764859"/>
                    <a:pt x="4864515" y="2770294"/>
                    <a:pt x="4860508" y="2774301"/>
                  </a:cubicBezTo>
                  <a:cubicBezTo>
                    <a:pt x="4856501" y="2778308"/>
                    <a:pt x="4851066" y="2780559"/>
                    <a:pt x="4845399" y="2780559"/>
                  </a:cubicBezTo>
                  <a:lnTo>
                    <a:pt x="21367" y="2780559"/>
                  </a:lnTo>
                  <a:cubicBezTo>
                    <a:pt x="15700" y="2780559"/>
                    <a:pt x="10266" y="2778308"/>
                    <a:pt x="6258" y="2774301"/>
                  </a:cubicBezTo>
                  <a:cubicBezTo>
                    <a:pt x="2251" y="2770294"/>
                    <a:pt x="0" y="2764859"/>
                    <a:pt x="0" y="2759192"/>
                  </a:cubicBezTo>
                  <a:lnTo>
                    <a:pt x="0" y="21367"/>
                  </a:lnTo>
                  <a:cubicBezTo>
                    <a:pt x="0" y="15700"/>
                    <a:pt x="2251" y="10266"/>
                    <a:pt x="6258" y="6258"/>
                  </a:cubicBezTo>
                  <a:cubicBezTo>
                    <a:pt x="10266" y="2251"/>
                    <a:pt x="15700" y="0"/>
                    <a:pt x="21367" y="0"/>
                  </a:cubicBezTo>
                  <a:close/>
                </a:path>
              </a:pathLst>
            </a:custGeom>
            <a:solidFill>
              <a:srgbClr val="F4EDE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4866766" cy="28281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5400000">
            <a:off x="11691289" y="2879164"/>
            <a:ext cx="2219338" cy="3899735"/>
            <a:chOff x="0" y="0"/>
            <a:chExt cx="577069" cy="101400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77069" cy="1014004"/>
            </a:xfrm>
            <a:custGeom>
              <a:avLst/>
              <a:gdLst/>
              <a:ahLst/>
              <a:cxnLst/>
              <a:rect r="r" b="b" t="t" l="l"/>
              <a:pathLst>
                <a:path h="1014004" w="577069">
                  <a:moveTo>
                    <a:pt x="177908" y="0"/>
                  </a:moveTo>
                  <a:lnTo>
                    <a:pt x="399161" y="0"/>
                  </a:lnTo>
                  <a:cubicBezTo>
                    <a:pt x="497417" y="0"/>
                    <a:pt x="577069" y="79652"/>
                    <a:pt x="577069" y="177908"/>
                  </a:cubicBezTo>
                  <a:lnTo>
                    <a:pt x="577069" y="836096"/>
                  </a:lnTo>
                  <a:cubicBezTo>
                    <a:pt x="577069" y="934352"/>
                    <a:pt x="497417" y="1014004"/>
                    <a:pt x="399161" y="1014004"/>
                  </a:cubicBezTo>
                  <a:lnTo>
                    <a:pt x="177908" y="1014004"/>
                  </a:lnTo>
                  <a:cubicBezTo>
                    <a:pt x="79652" y="1014004"/>
                    <a:pt x="0" y="934352"/>
                    <a:pt x="0" y="836096"/>
                  </a:cubicBezTo>
                  <a:lnTo>
                    <a:pt x="0" y="177908"/>
                  </a:lnTo>
                  <a:cubicBezTo>
                    <a:pt x="0" y="79652"/>
                    <a:pt x="79652" y="0"/>
                    <a:pt x="177908" y="0"/>
                  </a:cubicBezTo>
                  <a:close/>
                </a:path>
              </a:pathLst>
            </a:custGeom>
            <a:solidFill>
              <a:srgbClr val="F4EDE2"/>
            </a:solidFill>
            <a:ln w="152400" cap="rnd">
              <a:solidFill>
                <a:srgbClr val="472D3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577069" cy="1061629"/>
            </a:xfrm>
            <a:prstGeom prst="rect">
              <a:avLst/>
            </a:prstGeom>
          </p:spPr>
          <p:txBody>
            <a:bodyPr anchor="ctr" rtlCol="false" tIns="51456" lIns="51456" bIns="51456" rIns="5145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5400000">
            <a:off x="12027977" y="1952194"/>
            <a:ext cx="1295402" cy="4458273"/>
            <a:chOff x="0" y="0"/>
            <a:chExt cx="368024" cy="126659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68024" cy="1266597"/>
            </a:xfrm>
            <a:custGeom>
              <a:avLst/>
              <a:gdLst/>
              <a:ahLst/>
              <a:cxnLst/>
              <a:rect r="r" b="b" t="t" l="l"/>
              <a:pathLst>
                <a:path h="1266597" w="368024">
                  <a:moveTo>
                    <a:pt x="0" y="0"/>
                  </a:moveTo>
                  <a:lnTo>
                    <a:pt x="368024" y="0"/>
                  </a:lnTo>
                  <a:lnTo>
                    <a:pt x="368024" y="1266597"/>
                  </a:lnTo>
                  <a:lnTo>
                    <a:pt x="0" y="1266597"/>
                  </a:lnTo>
                  <a:close/>
                </a:path>
              </a:pathLst>
            </a:custGeom>
            <a:solidFill>
              <a:srgbClr val="F4EDE2"/>
            </a:solidFill>
            <a:ln cap="sq">
              <a:noFill/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368024" cy="1314222"/>
            </a:xfrm>
            <a:prstGeom prst="rect">
              <a:avLst/>
            </a:prstGeom>
          </p:spPr>
          <p:txBody>
            <a:bodyPr anchor="ctr" rtlCol="false" tIns="51456" lIns="51456" bIns="51456" rIns="5145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5400000">
            <a:off x="10597248" y="4725171"/>
            <a:ext cx="1460832" cy="1337694"/>
            <a:chOff x="0" y="0"/>
            <a:chExt cx="415023" cy="3800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15023" cy="380039"/>
            </a:xfrm>
            <a:custGeom>
              <a:avLst/>
              <a:gdLst/>
              <a:ahLst/>
              <a:cxnLst/>
              <a:rect r="r" b="b" t="t" l="l"/>
              <a:pathLst>
                <a:path h="380039" w="415023">
                  <a:moveTo>
                    <a:pt x="0" y="0"/>
                  </a:moveTo>
                  <a:lnTo>
                    <a:pt x="415023" y="0"/>
                  </a:lnTo>
                  <a:lnTo>
                    <a:pt x="415023" y="380039"/>
                  </a:lnTo>
                  <a:lnTo>
                    <a:pt x="0" y="380039"/>
                  </a:lnTo>
                  <a:close/>
                </a:path>
              </a:pathLst>
            </a:custGeom>
            <a:solidFill>
              <a:srgbClr val="F4EDE2"/>
            </a:solidFill>
            <a:ln cap="sq">
              <a:noFill/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415023" cy="427665"/>
            </a:xfrm>
            <a:prstGeom prst="rect">
              <a:avLst/>
            </a:prstGeom>
          </p:spPr>
          <p:txBody>
            <a:bodyPr anchor="ctr" rtlCol="false" tIns="51456" lIns="51456" bIns="51456" rIns="5145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3554266" y="2735000"/>
            <a:ext cx="2142271" cy="2142271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72D30"/>
            </a:solidFill>
            <a:ln cap="sq">
              <a:noFill/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1456" lIns="51456" bIns="51456" rIns="5145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13824662" y="3005395"/>
            <a:ext cx="1988820" cy="1988820"/>
          </a:xfrm>
          <a:custGeom>
            <a:avLst/>
            <a:gdLst/>
            <a:ahLst/>
            <a:cxnLst/>
            <a:rect r="r" b="b" t="t" l="l"/>
            <a:pathLst>
              <a:path h="1988820" w="1988820">
                <a:moveTo>
                  <a:pt x="0" y="0"/>
                </a:moveTo>
                <a:lnTo>
                  <a:pt x="1988820" y="0"/>
                </a:lnTo>
                <a:lnTo>
                  <a:pt x="1988820" y="1988820"/>
                </a:lnTo>
                <a:lnTo>
                  <a:pt x="0" y="19888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19" id="19"/>
          <p:cNvGrpSpPr/>
          <p:nvPr/>
        </p:nvGrpSpPr>
        <p:grpSpPr>
          <a:xfrm rot="-5400000">
            <a:off x="13824662" y="3005395"/>
            <a:ext cx="1601481" cy="1601481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45781" lIns="45781" bIns="45781" rIns="45781"/>
            <a:lstStyle/>
            <a:p>
              <a:pPr algn="ctr">
                <a:lnSpc>
                  <a:spcPts val="1743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5400000">
            <a:off x="8940868" y="4831733"/>
            <a:ext cx="2219338" cy="3899735"/>
            <a:chOff x="0" y="0"/>
            <a:chExt cx="577069" cy="101400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77069" cy="1014004"/>
            </a:xfrm>
            <a:custGeom>
              <a:avLst/>
              <a:gdLst/>
              <a:ahLst/>
              <a:cxnLst/>
              <a:rect r="r" b="b" t="t" l="l"/>
              <a:pathLst>
                <a:path h="1014004" w="577069">
                  <a:moveTo>
                    <a:pt x="177908" y="0"/>
                  </a:moveTo>
                  <a:lnTo>
                    <a:pt x="399161" y="0"/>
                  </a:lnTo>
                  <a:cubicBezTo>
                    <a:pt x="497417" y="0"/>
                    <a:pt x="577069" y="79652"/>
                    <a:pt x="577069" y="177908"/>
                  </a:cubicBezTo>
                  <a:lnTo>
                    <a:pt x="577069" y="836096"/>
                  </a:lnTo>
                  <a:cubicBezTo>
                    <a:pt x="577069" y="934352"/>
                    <a:pt x="497417" y="1014004"/>
                    <a:pt x="399161" y="1014004"/>
                  </a:cubicBezTo>
                  <a:lnTo>
                    <a:pt x="177908" y="1014004"/>
                  </a:lnTo>
                  <a:cubicBezTo>
                    <a:pt x="79652" y="1014004"/>
                    <a:pt x="0" y="934352"/>
                    <a:pt x="0" y="836096"/>
                  </a:cubicBezTo>
                  <a:lnTo>
                    <a:pt x="0" y="177908"/>
                  </a:lnTo>
                  <a:cubicBezTo>
                    <a:pt x="0" y="79652"/>
                    <a:pt x="79652" y="0"/>
                    <a:pt x="177908" y="0"/>
                  </a:cubicBezTo>
                  <a:close/>
                </a:path>
              </a:pathLst>
            </a:custGeom>
            <a:solidFill>
              <a:srgbClr val="F4EDE2"/>
            </a:solidFill>
            <a:ln w="152400" cap="rnd">
              <a:solidFill>
                <a:srgbClr val="723D46"/>
              </a:solidFill>
              <a:prstDash val="solid"/>
              <a:round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577069" cy="1061629"/>
            </a:xfrm>
            <a:prstGeom prst="rect">
              <a:avLst/>
            </a:prstGeom>
          </p:spPr>
          <p:txBody>
            <a:bodyPr anchor="ctr" rtlCol="false" tIns="60551" lIns="60551" bIns="60551" rIns="60551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5400000">
            <a:off x="9394908" y="5399475"/>
            <a:ext cx="1295402" cy="4458273"/>
            <a:chOff x="0" y="0"/>
            <a:chExt cx="368024" cy="1266597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68024" cy="1266597"/>
            </a:xfrm>
            <a:custGeom>
              <a:avLst/>
              <a:gdLst/>
              <a:ahLst/>
              <a:cxnLst/>
              <a:rect r="r" b="b" t="t" l="l"/>
              <a:pathLst>
                <a:path h="1266597" w="368024">
                  <a:moveTo>
                    <a:pt x="0" y="0"/>
                  </a:moveTo>
                  <a:lnTo>
                    <a:pt x="368024" y="0"/>
                  </a:lnTo>
                  <a:lnTo>
                    <a:pt x="368024" y="1266597"/>
                  </a:lnTo>
                  <a:lnTo>
                    <a:pt x="0" y="1266597"/>
                  </a:lnTo>
                  <a:close/>
                </a:path>
              </a:pathLst>
            </a:custGeom>
            <a:solidFill>
              <a:srgbClr val="F4EDE2"/>
            </a:solidFill>
            <a:ln cap="sq">
              <a:noFill/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368024" cy="1314222"/>
            </a:xfrm>
            <a:prstGeom prst="rect">
              <a:avLst/>
            </a:prstGeom>
          </p:spPr>
          <p:txBody>
            <a:bodyPr anchor="ctr" rtlCol="false" tIns="60551" lIns="60551" bIns="60551" rIns="60551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5400000">
            <a:off x="7756873" y="5549255"/>
            <a:ext cx="1494713" cy="1368598"/>
            <a:chOff x="0" y="0"/>
            <a:chExt cx="424649" cy="388819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24648" cy="388819"/>
            </a:xfrm>
            <a:custGeom>
              <a:avLst/>
              <a:gdLst/>
              <a:ahLst/>
              <a:cxnLst/>
              <a:rect r="r" b="b" t="t" l="l"/>
              <a:pathLst>
                <a:path h="388819" w="424648">
                  <a:moveTo>
                    <a:pt x="0" y="0"/>
                  </a:moveTo>
                  <a:lnTo>
                    <a:pt x="424648" y="0"/>
                  </a:lnTo>
                  <a:lnTo>
                    <a:pt x="424648" y="388819"/>
                  </a:lnTo>
                  <a:lnTo>
                    <a:pt x="0" y="388819"/>
                  </a:lnTo>
                  <a:close/>
                </a:path>
              </a:pathLst>
            </a:custGeom>
            <a:solidFill>
              <a:srgbClr val="F4EDE2"/>
            </a:solidFill>
            <a:ln cap="sq">
              <a:noFill/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47625"/>
              <a:ext cx="424649" cy="436444"/>
            </a:xfrm>
            <a:prstGeom prst="rect">
              <a:avLst/>
            </a:prstGeom>
          </p:spPr>
          <p:txBody>
            <a:bodyPr anchor="ctr" rtlCol="false" tIns="60551" lIns="60551" bIns="60551" rIns="60551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0929269" y="6557476"/>
            <a:ext cx="2142271" cy="2142271"/>
            <a:chOff x="0" y="0"/>
            <a:chExt cx="812800" cy="8128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723D46"/>
            </a:solidFill>
            <a:ln cap="sq">
              <a:noFill/>
              <a:prstDash val="solid"/>
              <a:miter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1456" lIns="51456" bIns="51456" rIns="5145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0">
            <a:off x="11199664" y="6827871"/>
            <a:ext cx="1988820" cy="1988820"/>
          </a:xfrm>
          <a:custGeom>
            <a:avLst/>
            <a:gdLst/>
            <a:ahLst/>
            <a:cxnLst/>
            <a:rect r="r" b="b" t="t" l="l"/>
            <a:pathLst>
              <a:path h="1988820" w="1988820">
                <a:moveTo>
                  <a:pt x="0" y="0"/>
                </a:moveTo>
                <a:lnTo>
                  <a:pt x="1988820" y="0"/>
                </a:lnTo>
                <a:lnTo>
                  <a:pt x="1988820" y="1988820"/>
                </a:lnTo>
                <a:lnTo>
                  <a:pt x="0" y="19888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5" id="35"/>
          <p:cNvGrpSpPr/>
          <p:nvPr/>
        </p:nvGrpSpPr>
        <p:grpSpPr>
          <a:xfrm rot="-5400000">
            <a:off x="11199664" y="6827871"/>
            <a:ext cx="1601481" cy="1601481"/>
            <a:chOff x="0" y="0"/>
            <a:chExt cx="812800" cy="812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45781" lIns="45781" bIns="45781" rIns="45781"/>
            <a:lstStyle/>
            <a:p>
              <a:pPr algn="ctr">
                <a:lnSpc>
                  <a:spcPts val="1743"/>
                </a:lnSpc>
              </a:pPr>
            </a:p>
          </p:txBody>
        </p:sp>
      </p:grpSp>
      <p:grpSp>
        <p:nvGrpSpPr>
          <p:cNvPr name="Group 38" id="38"/>
          <p:cNvGrpSpPr/>
          <p:nvPr/>
        </p:nvGrpSpPr>
        <p:grpSpPr>
          <a:xfrm rot="5400000">
            <a:off x="6094157" y="2879164"/>
            <a:ext cx="2219338" cy="3899735"/>
            <a:chOff x="0" y="0"/>
            <a:chExt cx="577069" cy="101400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77069" cy="1014004"/>
            </a:xfrm>
            <a:custGeom>
              <a:avLst/>
              <a:gdLst/>
              <a:ahLst/>
              <a:cxnLst/>
              <a:rect r="r" b="b" t="t" l="l"/>
              <a:pathLst>
                <a:path h="1014004" w="577069">
                  <a:moveTo>
                    <a:pt x="177908" y="0"/>
                  </a:moveTo>
                  <a:lnTo>
                    <a:pt x="399161" y="0"/>
                  </a:lnTo>
                  <a:cubicBezTo>
                    <a:pt x="497417" y="0"/>
                    <a:pt x="577069" y="79652"/>
                    <a:pt x="577069" y="177908"/>
                  </a:cubicBezTo>
                  <a:lnTo>
                    <a:pt x="577069" y="836096"/>
                  </a:lnTo>
                  <a:cubicBezTo>
                    <a:pt x="577069" y="934352"/>
                    <a:pt x="497417" y="1014004"/>
                    <a:pt x="399161" y="1014004"/>
                  </a:cubicBezTo>
                  <a:lnTo>
                    <a:pt x="177908" y="1014004"/>
                  </a:lnTo>
                  <a:cubicBezTo>
                    <a:pt x="79652" y="1014004"/>
                    <a:pt x="0" y="934352"/>
                    <a:pt x="0" y="836096"/>
                  </a:cubicBezTo>
                  <a:lnTo>
                    <a:pt x="0" y="177908"/>
                  </a:lnTo>
                  <a:cubicBezTo>
                    <a:pt x="0" y="79652"/>
                    <a:pt x="79652" y="0"/>
                    <a:pt x="177908" y="0"/>
                  </a:cubicBezTo>
                  <a:close/>
                </a:path>
              </a:pathLst>
            </a:custGeom>
            <a:solidFill>
              <a:srgbClr val="F4EDE2"/>
            </a:solidFill>
            <a:ln w="152400" cap="rnd">
              <a:solidFill>
                <a:srgbClr val="E26D5C"/>
              </a:solidFill>
              <a:prstDash val="solid"/>
              <a:round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-47625"/>
              <a:ext cx="577069" cy="1061629"/>
            </a:xfrm>
            <a:prstGeom prst="rect">
              <a:avLst/>
            </a:prstGeom>
          </p:spPr>
          <p:txBody>
            <a:bodyPr anchor="ctr" rtlCol="false" tIns="51456" lIns="51456" bIns="51456" rIns="5145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1" id="41"/>
          <p:cNvGrpSpPr/>
          <p:nvPr/>
        </p:nvGrpSpPr>
        <p:grpSpPr>
          <a:xfrm rot="5400000">
            <a:off x="6430845" y="1952194"/>
            <a:ext cx="1295402" cy="4458273"/>
            <a:chOff x="0" y="0"/>
            <a:chExt cx="368024" cy="1266597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368024" cy="1266597"/>
            </a:xfrm>
            <a:custGeom>
              <a:avLst/>
              <a:gdLst/>
              <a:ahLst/>
              <a:cxnLst/>
              <a:rect r="r" b="b" t="t" l="l"/>
              <a:pathLst>
                <a:path h="1266597" w="368024">
                  <a:moveTo>
                    <a:pt x="0" y="0"/>
                  </a:moveTo>
                  <a:lnTo>
                    <a:pt x="368024" y="0"/>
                  </a:lnTo>
                  <a:lnTo>
                    <a:pt x="368024" y="1266597"/>
                  </a:lnTo>
                  <a:lnTo>
                    <a:pt x="0" y="1266597"/>
                  </a:lnTo>
                  <a:close/>
                </a:path>
              </a:pathLst>
            </a:custGeom>
            <a:solidFill>
              <a:srgbClr val="F4EDE2"/>
            </a:solidFill>
            <a:ln cap="sq">
              <a:noFill/>
              <a:prstDash val="solid"/>
              <a:miter/>
            </a:ln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368024" cy="1314222"/>
            </a:xfrm>
            <a:prstGeom prst="rect">
              <a:avLst/>
            </a:prstGeom>
          </p:spPr>
          <p:txBody>
            <a:bodyPr anchor="ctr" rtlCol="false" tIns="51456" lIns="51456" bIns="51456" rIns="5145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4" id="44"/>
          <p:cNvGrpSpPr/>
          <p:nvPr/>
        </p:nvGrpSpPr>
        <p:grpSpPr>
          <a:xfrm rot="5400000">
            <a:off x="5000116" y="4725171"/>
            <a:ext cx="1460832" cy="1337694"/>
            <a:chOff x="0" y="0"/>
            <a:chExt cx="415023" cy="3800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15023" cy="380039"/>
            </a:xfrm>
            <a:custGeom>
              <a:avLst/>
              <a:gdLst/>
              <a:ahLst/>
              <a:cxnLst/>
              <a:rect r="r" b="b" t="t" l="l"/>
              <a:pathLst>
                <a:path h="380039" w="415023">
                  <a:moveTo>
                    <a:pt x="0" y="0"/>
                  </a:moveTo>
                  <a:lnTo>
                    <a:pt x="415023" y="0"/>
                  </a:lnTo>
                  <a:lnTo>
                    <a:pt x="415023" y="380039"/>
                  </a:lnTo>
                  <a:lnTo>
                    <a:pt x="0" y="380039"/>
                  </a:lnTo>
                  <a:close/>
                </a:path>
              </a:pathLst>
            </a:custGeom>
            <a:solidFill>
              <a:srgbClr val="F4EDE2"/>
            </a:solidFill>
            <a:ln cap="sq">
              <a:noFill/>
              <a:prstDash val="solid"/>
              <a:miter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415023" cy="427665"/>
            </a:xfrm>
            <a:prstGeom prst="rect">
              <a:avLst/>
            </a:prstGeom>
          </p:spPr>
          <p:txBody>
            <a:bodyPr anchor="ctr" rtlCol="false" tIns="51456" lIns="51456" bIns="51456" rIns="5145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7957135" y="2735000"/>
            <a:ext cx="2142271" cy="2142271"/>
            <a:chOff x="0" y="0"/>
            <a:chExt cx="812800" cy="8128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26D5C"/>
            </a:solidFill>
            <a:ln cap="sq">
              <a:noFill/>
              <a:prstDash val="solid"/>
              <a:miter/>
            </a:ln>
          </p:spPr>
        </p:sp>
        <p:sp>
          <p:nvSpPr>
            <p:cNvPr name="TextBox 49" id="4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1456" lIns="51456" bIns="51456" rIns="5145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0" id="50"/>
          <p:cNvSpPr/>
          <p:nvPr/>
        </p:nvSpPr>
        <p:spPr>
          <a:xfrm flipH="false" flipV="false" rot="0">
            <a:off x="8227530" y="3005395"/>
            <a:ext cx="1988820" cy="1988820"/>
          </a:xfrm>
          <a:custGeom>
            <a:avLst/>
            <a:gdLst/>
            <a:ahLst/>
            <a:cxnLst/>
            <a:rect r="r" b="b" t="t" l="l"/>
            <a:pathLst>
              <a:path h="1988820" w="1988820">
                <a:moveTo>
                  <a:pt x="0" y="0"/>
                </a:moveTo>
                <a:lnTo>
                  <a:pt x="1988820" y="0"/>
                </a:lnTo>
                <a:lnTo>
                  <a:pt x="1988820" y="1988820"/>
                </a:lnTo>
                <a:lnTo>
                  <a:pt x="0" y="19888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51" id="51"/>
          <p:cNvGrpSpPr/>
          <p:nvPr/>
        </p:nvGrpSpPr>
        <p:grpSpPr>
          <a:xfrm rot="-5400000">
            <a:off x="8227530" y="3005395"/>
            <a:ext cx="1601481" cy="1601481"/>
            <a:chOff x="0" y="0"/>
            <a:chExt cx="812800" cy="81280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53" id="53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45781" lIns="45781" bIns="45781" rIns="45781"/>
            <a:lstStyle/>
            <a:p>
              <a:pPr algn="ctr">
                <a:lnSpc>
                  <a:spcPts val="1743"/>
                </a:lnSpc>
              </a:pPr>
            </a:p>
          </p:txBody>
        </p:sp>
      </p:grpSp>
      <p:grpSp>
        <p:nvGrpSpPr>
          <p:cNvPr name="Group 54" id="54"/>
          <p:cNvGrpSpPr/>
          <p:nvPr/>
        </p:nvGrpSpPr>
        <p:grpSpPr>
          <a:xfrm rot="5400000">
            <a:off x="3347771" y="4831733"/>
            <a:ext cx="2219338" cy="3899735"/>
            <a:chOff x="0" y="0"/>
            <a:chExt cx="577069" cy="1014004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77069" cy="1014004"/>
            </a:xfrm>
            <a:custGeom>
              <a:avLst/>
              <a:gdLst/>
              <a:ahLst/>
              <a:cxnLst/>
              <a:rect r="r" b="b" t="t" l="l"/>
              <a:pathLst>
                <a:path h="1014004" w="577069">
                  <a:moveTo>
                    <a:pt x="177908" y="0"/>
                  </a:moveTo>
                  <a:lnTo>
                    <a:pt x="399161" y="0"/>
                  </a:lnTo>
                  <a:cubicBezTo>
                    <a:pt x="497417" y="0"/>
                    <a:pt x="577069" y="79652"/>
                    <a:pt x="577069" y="177908"/>
                  </a:cubicBezTo>
                  <a:lnTo>
                    <a:pt x="577069" y="836096"/>
                  </a:lnTo>
                  <a:cubicBezTo>
                    <a:pt x="577069" y="934352"/>
                    <a:pt x="497417" y="1014004"/>
                    <a:pt x="399161" y="1014004"/>
                  </a:cubicBezTo>
                  <a:lnTo>
                    <a:pt x="177908" y="1014004"/>
                  </a:lnTo>
                  <a:cubicBezTo>
                    <a:pt x="79652" y="1014004"/>
                    <a:pt x="0" y="934352"/>
                    <a:pt x="0" y="836096"/>
                  </a:cubicBezTo>
                  <a:lnTo>
                    <a:pt x="0" y="177908"/>
                  </a:lnTo>
                  <a:cubicBezTo>
                    <a:pt x="0" y="79652"/>
                    <a:pt x="79652" y="0"/>
                    <a:pt x="177908" y="0"/>
                  </a:cubicBezTo>
                  <a:close/>
                </a:path>
              </a:pathLst>
            </a:custGeom>
            <a:solidFill>
              <a:srgbClr val="F4EDE2"/>
            </a:solidFill>
            <a:ln w="152400" cap="rnd">
              <a:solidFill>
                <a:srgbClr val="E28C5C"/>
              </a:solidFill>
              <a:prstDash val="solid"/>
              <a:round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0" y="-47625"/>
              <a:ext cx="577069" cy="1061629"/>
            </a:xfrm>
            <a:prstGeom prst="rect">
              <a:avLst/>
            </a:prstGeom>
          </p:spPr>
          <p:txBody>
            <a:bodyPr anchor="ctr" rtlCol="false" tIns="60551" lIns="60551" bIns="60551" rIns="60551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7" id="57"/>
          <p:cNvGrpSpPr/>
          <p:nvPr/>
        </p:nvGrpSpPr>
        <p:grpSpPr>
          <a:xfrm rot="5400000">
            <a:off x="3801812" y="5399475"/>
            <a:ext cx="1295402" cy="4458273"/>
            <a:chOff x="0" y="0"/>
            <a:chExt cx="368024" cy="1266597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368024" cy="1266597"/>
            </a:xfrm>
            <a:custGeom>
              <a:avLst/>
              <a:gdLst/>
              <a:ahLst/>
              <a:cxnLst/>
              <a:rect r="r" b="b" t="t" l="l"/>
              <a:pathLst>
                <a:path h="1266597" w="368024">
                  <a:moveTo>
                    <a:pt x="0" y="0"/>
                  </a:moveTo>
                  <a:lnTo>
                    <a:pt x="368024" y="0"/>
                  </a:lnTo>
                  <a:lnTo>
                    <a:pt x="368024" y="1266597"/>
                  </a:lnTo>
                  <a:lnTo>
                    <a:pt x="0" y="1266597"/>
                  </a:lnTo>
                  <a:close/>
                </a:path>
              </a:pathLst>
            </a:custGeom>
            <a:solidFill>
              <a:srgbClr val="F4EDE2"/>
            </a:solidFill>
            <a:ln cap="sq">
              <a:noFill/>
              <a:prstDash val="solid"/>
              <a:miter/>
            </a:ln>
          </p:spPr>
        </p:sp>
        <p:sp>
          <p:nvSpPr>
            <p:cNvPr name="TextBox 59" id="59"/>
            <p:cNvSpPr txBox="true"/>
            <p:nvPr/>
          </p:nvSpPr>
          <p:spPr>
            <a:xfrm>
              <a:off x="0" y="-47625"/>
              <a:ext cx="368024" cy="1314222"/>
            </a:xfrm>
            <a:prstGeom prst="rect">
              <a:avLst/>
            </a:prstGeom>
          </p:spPr>
          <p:txBody>
            <a:bodyPr anchor="ctr" rtlCol="false" tIns="60551" lIns="60551" bIns="60551" rIns="60551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0" id="60"/>
          <p:cNvGrpSpPr/>
          <p:nvPr/>
        </p:nvGrpSpPr>
        <p:grpSpPr>
          <a:xfrm rot="5400000">
            <a:off x="2163776" y="5549255"/>
            <a:ext cx="1494713" cy="1368598"/>
            <a:chOff x="0" y="0"/>
            <a:chExt cx="424649" cy="388819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424648" cy="388819"/>
            </a:xfrm>
            <a:custGeom>
              <a:avLst/>
              <a:gdLst/>
              <a:ahLst/>
              <a:cxnLst/>
              <a:rect r="r" b="b" t="t" l="l"/>
              <a:pathLst>
                <a:path h="388819" w="424648">
                  <a:moveTo>
                    <a:pt x="0" y="0"/>
                  </a:moveTo>
                  <a:lnTo>
                    <a:pt x="424648" y="0"/>
                  </a:lnTo>
                  <a:lnTo>
                    <a:pt x="424648" y="388819"/>
                  </a:lnTo>
                  <a:lnTo>
                    <a:pt x="0" y="388819"/>
                  </a:lnTo>
                  <a:close/>
                </a:path>
              </a:pathLst>
            </a:custGeom>
            <a:solidFill>
              <a:srgbClr val="F4EDE2"/>
            </a:solidFill>
            <a:ln cap="sq">
              <a:noFill/>
              <a:prstDash val="solid"/>
              <a:miter/>
            </a:ln>
          </p:spPr>
        </p:sp>
        <p:sp>
          <p:nvSpPr>
            <p:cNvPr name="TextBox 62" id="62"/>
            <p:cNvSpPr txBox="true"/>
            <p:nvPr/>
          </p:nvSpPr>
          <p:spPr>
            <a:xfrm>
              <a:off x="0" y="-47625"/>
              <a:ext cx="424649" cy="436444"/>
            </a:xfrm>
            <a:prstGeom prst="rect">
              <a:avLst/>
            </a:prstGeom>
          </p:spPr>
          <p:txBody>
            <a:bodyPr anchor="ctr" rtlCol="false" tIns="60551" lIns="60551" bIns="60551" rIns="60551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5336172" y="6557476"/>
            <a:ext cx="2142271" cy="2142271"/>
            <a:chOff x="0" y="0"/>
            <a:chExt cx="812800" cy="81280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28C5C"/>
            </a:solidFill>
            <a:ln cap="sq">
              <a:noFill/>
              <a:prstDash val="solid"/>
              <a:miter/>
            </a:ln>
          </p:spPr>
        </p:sp>
        <p:sp>
          <p:nvSpPr>
            <p:cNvPr name="TextBox 65" id="6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1456" lIns="51456" bIns="51456" rIns="5145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6" id="66"/>
          <p:cNvSpPr/>
          <p:nvPr/>
        </p:nvSpPr>
        <p:spPr>
          <a:xfrm flipH="false" flipV="false" rot="0">
            <a:off x="5606567" y="6827871"/>
            <a:ext cx="1988820" cy="1988820"/>
          </a:xfrm>
          <a:custGeom>
            <a:avLst/>
            <a:gdLst/>
            <a:ahLst/>
            <a:cxnLst/>
            <a:rect r="r" b="b" t="t" l="l"/>
            <a:pathLst>
              <a:path h="1988820" w="1988820">
                <a:moveTo>
                  <a:pt x="0" y="0"/>
                </a:moveTo>
                <a:lnTo>
                  <a:pt x="1988820" y="0"/>
                </a:lnTo>
                <a:lnTo>
                  <a:pt x="1988820" y="1988820"/>
                </a:lnTo>
                <a:lnTo>
                  <a:pt x="0" y="19888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67" id="67"/>
          <p:cNvGrpSpPr/>
          <p:nvPr/>
        </p:nvGrpSpPr>
        <p:grpSpPr>
          <a:xfrm rot="-5400000">
            <a:off x="5606567" y="6827871"/>
            <a:ext cx="1601481" cy="1601481"/>
            <a:chOff x="0" y="0"/>
            <a:chExt cx="812800" cy="81280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69" id="69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45781" lIns="45781" bIns="45781" rIns="45781"/>
            <a:lstStyle/>
            <a:p>
              <a:pPr algn="ctr">
                <a:lnSpc>
                  <a:spcPts val="1743"/>
                </a:lnSpc>
              </a:pPr>
            </a:p>
          </p:txBody>
        </p:sp>
      </p:grpSp>
      <p:grpSp>
        <p:nvGrpSpPr>
          <p:cNvPr name="Group 70" id="70"/>
          <p:cNvGrpSpPr/>
          <p:nvPr/>
        </p:nvGrpSpPr>
        <p:grpSpPr>
          <a:xfrm rot="5400000">
            <a:off x="877706" y="3255809"/>
            <a:ext cx="2219338" cy="3146445"/>
            <a:chOff x="0" y="0"/>
            <a:chExt cx="577069" cy="81813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577069" cy="818134"/>
            </a:xfrm>
            <a:custGeom>
              <a:avLst/>
              <a:gdLst/>
              <a:ahLst/>
              <a:cxnLst/>
              <a:rect r="r" b="b" t="t" l="l"/>
              <a:pathLst>
                <a:path h="818134" w="577069">
                  <a:moveTo>
                    <a:pt x="177908" y="0"/>
                  </a:moveTo>
                  <a:lnTo>
                    <a:pt x="399161" y="0"/>
                  </a:lnTo>
                  <a:cubicBezTo>
                    <a:pt x="497417" y="0"/>
                    <a:pt x="577069" y="79652"/>
                    <a:pt x="577069" y="177908"/>
                  </a:cubicBezTo>
                  <a:lnTo>
                    <a:pt x="577069" y="640226"/>
                  </a:lnTo>
                  <a:cubicBezTo>
                    <a:pt x="577069" y="738482"/>
                    <a:pt x="497417" y="818134"/>
                    <a:pt x="399161" y="818134"/>
                  </a:cubicBezTo>
                  <a:lnTo>
                    <a:pt x="177908" y="818134"/>
                  </a:lnTo>
                  <a:cubicBezTo>
                    <a:pt x="79652" y="818134"/>
                    <a:pt x="0" y="738482"/>
                    <a:pt x="0" y="640226"/>
                  </a:cubicBezTo>
                  <a:lnTo>
                    <a:pt x="0" y="177908"/>
                  </a:lnTo>
                  <a:cubicBezTo>
                    <a:pt x="0" y="79652"/>
                    <a:pt x="79652" y="0"/>
                    <a:pt x="177908" y="0"/>
                  </a:cubicBezTo>
                  <a:close/>
                </a:path>
              </a:pathLst>
            </a:custGeom>
            <a:solidFill>
              <a:srgbClr val="F4EDE2"/>
            </a:solidFill>
            <a:ln w="152400" cap="rnd">
              <a:solidFill>
                <a:srgbClr val="ACAF61"/>
              </a:solidFill>
              <a:prstDash val="solid"/>
              <a:round/>
            </a:ln>
          </p:spPr>
        </p:sp>
        <p:sp>
          <p:nvSpPr>
            <p:cNvPr name="TextBox 72" id="72"/>
            <p:cNvSpPr txBox="true"/>
            <p:nvPr/>
          </p:nvSpPr>
          <p:spPr>
            <a:xfrm>
              <a:off x="0" y="-47625"/>
              <a:ext cx="577069" cy="865759"/>
            </a:xfrm>
            <a:prstGeom prst="rect">
              <a:avLst/>
            </a:prstGeom>
          </p:spPr>
          <p:txBody>
            <a:bodyPr anchor="ctr" rtlCol="false" tIns="51456" lIns="51456" bIns="51456" rIns="5145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3" id="73"/>
          <p:cNvGrpSpPr/>
          <p:nvPr/>
        </p:nvGrpSpPr>
        <p:grpSpPr>
          <a:xfrm rot="5400000">
            <a:off x="1340654" y="2455100"/>
            <a:ext cx="1295402" cy="3452461"/>
            <a:chOff x="0" y="0"/>
            <a:chExt cx="368024" cy="980846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368024" cy="980846"/>
            </a:xfrm>
            <a:custGeom>
              <a:avLst/>
              <a:gdLst/>
              <a:ahLst/>
              <a:cxnLst/>
              <a:rect r="r" b="b" t="t" l="l"/>
              <a:pathLst>
                <a:path h="980846" w="368024">
                  <a:moveTo>
                    <a:pt x="0" y="0"/>
                  </a:moveTo>
                  <a:lnTo>
                    <a:pt x="368024" y="0"/>
                  </a:lnTo>
                  <a:lnTo>
                    <a:pt x="368024" y="980846"/>
                  </a:lnTo>
                  <a:lnTo>
                    <a:pt x="0" y="980846"/>
                  </a:lnTo>
                  <a:close/>
                </a:path>
              </a:pathLst>
            </a:custGeom>
            <a:solidFill>
              <a:srgbClr val="F4EDE2"/>
            </a:solidFill>
            <a:ln cap="sq">
              <a:noFill/>
              <a:prstDash val="solid"/>
              <a:miter/>
            </a:ln>
          </p:spPr>
        </p:sp>
        <p:sp>
          <p:nvSpPr>
            <p:cNvPr name="TextBox 75" id="75"/>
            <p:cNvSpPr txBox="true"/>
            <p:nvPr/>
          </p:nvSpPr>
          <p:spPr>
            <a:xfrm>
              <a:off x="0" y="-47625"/>
              <a:ext cx="368024" cy="1028471"/>
            </a:xfrm>
            <a:prstGeom prst="rect">
              <a:avLst/>
            </a:prstGeom>
          </p:spPr>
          <p:txBody>
            <a:bodyPr anchor="ctr" rtlCol="false" tIns="51456" lIns="51456" bIns="51456" rIns="5145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6" id="76"/>
          <p:cNvGrpSpPr/>
          <p:nvPr/>
        </p:nvGrpSpPr>
        <p:grpSpPr>
          <a:xfrm rot="5400000">
            <a:off x="-118027" y="5043754"/>
            <a:ext cx="1460832" cy="700529"/>
            <a:chOff x="0" y="0"/>
            <a:chExt cx="415023" cy="19902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415023" cy="199020"/>
            </a:xfrm>
            <a:custGeom>
              <a:avLst/>
              <a:gdLst/>
              <a:ahLst/>
              <a:cxnLst/>
              <a:rect r="r" b="b" t="t" l="l"/>
              <a:pathLst>
                <a:path h="199020" w="415023">
                  <a:moveTo>
                    <a:pt x="0" y="0"/>
                  </a:moveTo>
                  <a:lnTo>
                    <a:pt x="415023" y="0"/>
                  </a:lnTo>
                  <a:lnTo>
                    <a:pt x="415023" y="199020"/>
                  </a:lnTo>
                  <a:lnTo>
                    <a:pt x="0" y="199020"/>
                  </a:lnTo>
                  <a:close/>
                </a:path>
              </a:pathLst>
            </a:custGeom>
            <a:solidFill>
              <a:srgbClr val="F4EDE2"/>
            </a:solidFill>
            <a:ln cap="sq">
              <a:noFill/>
              <a:prstDash val="solid"/>
              <a:miter/>
            </a:ln>
          </p:spPr>
        </p:sp>
        <p:sp>
          <p:nvSpPr>
            <p:cNvPr name="TextBox 78" id="78"/>
            <p:cNvSpPr txBox="true"/>
            <p:nvPr/>
          </p:nvSpPr>
          <p:spPr>
            <a:xfrm>
              <a:off x="0" y="-47625"/>
              <a:ext cx="415023" cy="246645"/>
            </a:xfrm>
            <a:prstGeom prst="rect">
              <a:avLst/>
            </a:prstGeom>
          </p:spPr>
          <p:txBody>
            <a:bodyPr anchor="ctr" rtlCol="false" tIns="51456" lIns="51456" bIns="51456" rIns="5145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2364038" y="2735000"/>
            <a:ext cx="2142271" cy="2142271"/>
            <a:chOff x="0" y="0"/>
            <a:chExt cx="812800" cy="81280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ACAF61"/>
            </a:solidFill>
            <a:ln cap="sq">
              <a:noFill/>
              <a:prstDash val="solid"/>
              <a:miter/>
            </a:ln>
          </p:spPr>
        </p:sp>
        <p:sp>
          <p:nvSpPr>
            <p:cNvPr name="TextBox 81" id="8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1456" lIns="51456" bIns="51456" rIns="51456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82" id="82"/>
          <p:cNvSpPr/>
          <p:nvPr/>
        </p:nvSpPr>
        <p:spPr>
          <a:xfrm flipH="false" flipV="false" rot="0">
            <a:off x="2634433" y="3005395"/>
            <a:ext cx="1988573" cy="1988573"/>
          </a:xfrm>
          <a:custGeom>
            <a:avLst/>
            <a:gdLst/>
            <a:ahLst/>
            <a:cxnLst/>
            <a:rect r="r" b="b" t="t" l="l"/>
            <a:pathLst>
              <a:path h="1988573" w="1988573">
                <a:moveTo>
                  <a:pt x="0" y="0"/>
                </a:moveTo>
                <a:lnTo>
                  <a:pt x="1988573" y="0"/>
                </a:lnTo>
                <a:lnTo>
                  <a:pt x="1988573" y="1988573"/>
                </a:lnTo>
                <a:lnTo>
                  <a:pt x="0" y="198857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5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83" id="83"/>
          <p:cNvGrpSpPr/>
          <p:nvPr/>
        </p:nvGrpSpPr>
        <p:grpSpPr>
          <a:xfrm rot="-5400000">
            <a:off x="2634433" y="3005395"/>
            <a:ext cx="1601481" cy="1601481"/>
            <a:chOff x="0" y="0"/>
            <a:chExt cx="812800" cy="812800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85" id="85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45781" lIns="45781" bIns="45781" rIns="45781"/>
            <a:lstStyle/>
            <a:p>
              <a:pPr algn="ctr">
                <a:lnSpc>
                  <a:spcPts val="1743"/>
                </a:lnSpc>
              </a:pPr>
            </a:p>
          </p:txBody>
        </p:sp>
      </p:grpSp>
      <p:sp>
        <p:nvSpPr>
          <p:cNvPr name="Freeform 86" id="86"/>
          <p:cNvSpPr/>
          <p:nvPr/>
        </p:nvSpPr>
        <p:spPr>
          <a:xfrm flipH="false" flipV="false" rot="4545510">
            <a:off x="120649" y="-1129572"/>
            <a:ext cx="1745252" cy="1799229"/>
          </a:xfrm>
          <a:custGeom>
            <a:avLst/>
            <a:gdLst/>
            <a:ahLst/>
            <a:cxnLst/>
            <a:rect r="r" b="b" t="t" l="l"/>
            <a:pathLst>
              <a:path h="1799229" w="1745252">
                <a:moveTo>
                  <a:pt x="0" y="0"/>
                </a:moveTo>
                <a:lnTo>
                  <a:pt x="1745252" y="0"/>
                </a:lnTo>
                <a:lnTo>
                  <a:pt x="1745252" y="1799229"/>
                </a:lnTo>
                <a:lnTo>
                  <a:pt x="0" y="179922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6999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87" id="87"/>
          <p:cNvSpPr/>
          <p:nvPr/>
        </p:nvSpPr>
        <p:spPr>
          <a:xfrm flipH="false" flipV="false" rot="0">
            <a:off x="17181395" y="9421137"/>
            <a:ext cx="1927808" cy="771123"/>
          </a:xfrm>
          <a:custGeom>
            <a:avLst/>
            <a:gdLst/>
            <a:ahLst/>
            <a:cxnLst/>
            <a:rect r="r" b="b" t="t" l="l"/>
            <a:pathLst>
              <a:path h="771123" w="1927808">
                <a:moveTo>
                  <a:pt x="0" y="0"/>
                </a:moveTo>
                <a:lnTo>
                  <a:pt x="1927807" y="0"/>
                </a:lnTo>
                <a:lnTo>
                  <a:pt x="1927807" y="771123"/>
                </a:lnTo>
                <a:lnTo>
                  <a:pt x="0" y="77112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6999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88" id="88"/>
          <p:cNvSpPr/>
          <p:nvPr/>
        </p:nvSpPr>
        <p:spPr>
          <a:xfrm flipH="false" flipV="false" rot="0">
            <a:off x="17259300" y="-878112"/>
            <a:ext cx="1968885" cy="1963962"/>
          </a:xfrm>
          <a:custGeom>
            <a:avLst/>
            <a:gdLst/>
            <a:ahLst/>
            <a:cxnLst/>
            <a:rect r="r" b="b" t="t" l="l"/>
            <a:pathLst>
              <a:path h="1963962" w="1968885">
                <a:moveTo>
                  <a:pt x="0" y="0"/>
                </a:moveTo>
                <a:lnTo>
                  <a:pt x="1968885" y="0"/>
                </a:lnTo>
                <a:lnTo>
                  <a:pt x="1968885" y="1963962"/>
                </a:lnTo>
                <a:lnTo>
                  <a:pt x="0" y="196396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28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89" id="89"/>
          <p:cNvSpPr txBox="true"/>
          <p:nvPr/>
        </p:nvSpPr>
        <p:spPr>
          <a:xfrm rot="0">
            <a:off x="2286800" y="411479"/>
            <a:ext cx="13714401" cy="11963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59"/>
              </a:lnSpc>
            </a:pPr>
            <a:r>
              <a:rPr lang="en-US" b="true" sz="6899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MỤC LỤC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1676852" y="7257427"/>
            <a:ext cx="3504825" cy="141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19"/>
              </a:lnSpc>
            </a:pPr>
            <a:r>
              <a:rPr lang="en-US" sz="3099" b="true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Bài</a:t>
            </a:r>
            <a:r>
              <a:rPr lang="en-US" sz="3099" b="true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 Toán Lớp Đệm (Caching)</a:t>
            </a:r>
          </a:p>
          <a:p>
            <a:pPr algn="l">
              <a:lnSpc>
                <a:spcPts val="3719"/>
              </a:lnSpc>
            </a:pPr>
          </a:p>
        </p:txBody>
      </p:sp>
      <p:sp>
        <p:nvSpPr>
          <p:cNvPr name="TextBox 91" id="91"/>
          <p:cNvSpPr txBox="true"/>
          <p:nvPr/>
        </p:nvSpPr>
        <p:spPr>
          <a:xfrm rot="0">
            <a:off x="8309762" y="7087524"/>
            <a:ext cx="2525350" cy="1419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19"/>
              </a:lnSpc>
            </a:pPr>
            <a:r>
              <a:rPr lang="en-US" sz="3099" b="true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Ch</a:t>
            </a:r>
            <a:r>
              <a:rPr lang="en-US" sz="3099" b="true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iến Lược Cache-Aside</a:t>
            </a:r>
          </a:p>
          <a:p>
            <a:pPr algn="l">
              <a:lnSpc>
                <a:spcPts val="3719"/>
              </a:lnSpc>
            </a:pPr>
          </a:p>
        </p:txBody>
      </p:sp>
      <p:sp>
        <p:nvSpPr>
          <p:cNvPr name="TextBox 92" id="92"/>
          <p:cNvSpPr txBox="true"/>
          <p:nvPr/>
        </p:nvSpPr>
        <p:spPr>
          <a:xfrm rot="0">
            <a:off x="15889682" y="3313267"/>
            <a:ext cx="2430261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8"/>
              </a:lnSpc>
            </a:pPr>
            <a:r>
              <a:rPr lang="en-US" sz="2740" b="true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So Sánh Redis &amp; Memcached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4849410" y="3130501"/>
            <a:ext cx="2609007" cy="1476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3199" b="true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Tổng</a:t>
            </a:r>
            <a:r>
              <a:rPr lang="en-US" sz="3199" b="true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 Quan Công Nghệ</a:t>
            </a:r>
          </a:p>
          <a:p>
            <a:pPr algn="l">
              <a:lnSpc>
                <a:spcPts val="3839"/>
              </a:lnSpc>
            </a:pPr>
          </a:p>
        </p:txBody>
      </p:sp>
      <p:sp>
        <p:nvSpPr>
          <p:cNvPr name="TextBox 94" id="94"/>
          <p:cNvSpPr txBox="true"/>
          <p:nvPr/>
        </p:nvSpPr>
        <p:spPr>
          <a:xfrm rot="0">
            <a:off x="10404506" y="3170727"/>
            <a:ext cx="2873536" cy="1352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true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Mô Hìn</a:t>
            </a:r>
            <a:r>
              <a:rPr lang="en-US" sz="2999" b="true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h Session Storage</a:t>
            </a:r>
          </a:p>
          <a:p>
            <a:pPr algn="l">
              <a:lnSpc>
                <a:spcPts val="3599"/>
              </a:lnSpc>
            </a:pPr>
          </a:p>
        </p:txBody>
      </p:sp>
      <p:sp>
        <p:nvSpPr>
          <p:cNvPr name="TextBox 95" id="95"/>
          <p:cNvSpPr txBox="true"/>
          <p:nvPr/>
        </p:nvSpPr>
        <p:spPr>
          <a:xfrm rot="0">
            <a:off x="2887928" y="3402275"/>
            <a:ext cx="1028032" cy="721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79"/>
              </a:lnSpc>
            </a:pPr>
            <a:r>
              <a:rPr lang="en-US" b="true" sz="4199">
                <a:solidFill>
                  <a:srgbClr val="B3B675"/>
                </a:solidFill>
                <a:latin typeface="Roboto Bold"/>
                <a:ea typeface="Roboto Bold"/>
                <a:cs typeface="Roboto Bold"/>
                <a:sym typeface="Roboto Bold"/>
              </a:rPr>
              <a:t>01</a:t>
            </a:r>
          </a:p>
        </p:txBody>
      </p:sp>
      <p:sp>
        <p:nvSpPr>
          <p:cNvPr name="TextBox 96" id="96"/>
          <p:cNvSpPr txBox="true"/>
          <p:nvPr/>
        </p:nvSpPr>
        <p:spPr>
          <a:xfrm rot="0">
            <a:off x="8430943" y="3447904"/>
            <a:ext cx="1028032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80"/>
              </a:lnSpc>
            </a:pPr>
            <a:r>
              <a:rPr lang="en-US" b="true" sz="4200">
                <a:solidFill>
                  <a:srgbClr val="E26D5C"/>
                </a:solidFill>
                <a:latin typeface="Roboto Bold"/>
                <a:ea typeface="Roboto Bold"/>
                <a:cs typeface="Roboto Bold"/>
                <a:sym typeface="Roboto Bold"/>
              </a:rPr>
              <a:t>03</a:t>
            </a:r>
          </a:p>
        </p:txBody>
      </p:sp>
      <p:sp>
        <p:nvSpPr>
          <p:cNvPr name="TextBox 97" id="97"/>
          <p:cNvSpPr txBox="true"/>
          <p:nvPr/>
        </p:nvSpPr>
        <p:spPr>
          <a:xfrm rot="0">
            <a:off x="14111386" y="3419946"/>
            <a:ext cx="1028032" cy="721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79"/>
              </a:lnSpc>
            </a:pPr>
            <a:r>
              <a:rPr lang="en-US" b="true" sz="4199">
                <a:solidFill>
                  <a:srgbClr val="472D30"/>
                </a:solidFill>
                <a:latin typeface="Roboto Bold"/>
                <a:ea typeface="Roboto Bold"/>
                <a:cs typeface="Roboto Bold"/>
                <a:sym typeface="Roboto Bold"/>
              </a:rPr>
              <a:t>05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5893292" y="7224751"/>
            <a:ext cx="1028032" cy="721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79"/>
              </a:lnSpc>
            </a:pPr>
            <a:r>
              <a:rPr lang="en-US" b="true" sz="4199">
                <a:solidFill>
                  <a:srgbClr val="E28C5C"/>
                </a:solidFill>
                <a:latin typeface="Roboto Bold"/>
                <a:ea typeface="Roboto Bold"/>
                <a:cs typeface="Roboto Bold"/>
                <a:sym typeface="Roboto Bold"/>
              </a:rPr>
              <a:t>02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11441729" y="7309298"/>
            <a:ext cx="1028032" cy="72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80"/>
              </a:lnSpc>
            </a:pPr>
            <a:r>
              <a:rPr lang="en-US" b="true" sz="4200">
                <a:solidFill>
                  <a:srgbClr val="723D46"/>
                </a:solidFill>
                <a:latin typeface="Roboto Bold"/>
                <a:ea typeface="Roboto Bold"/>
                <a:cs typeface="Roboto Bold"/>
                <a:sym typeface="Roboto Bold"/>
              </a:rPr>
              <a:t>04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259300" y="0"/>
            <a:ext cx="3086100" cy="10287000"/>
            <a:chOff x="0" y="0"/>
            <a:chExt cx="812800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2709333"/>
            </a:xfrm>
            <a:custGeom>
              <a:avLst/>
              <a:gdLst/>
              <a:ahLst/>
              <a:cxnLst/>
              <a:rect r="r" b="b" t="t" l="l"/>
              <a:pathLst>
                <a:path h="2709333" w="812800">
                  <a:moveTo>
                    <a:pt x="90311" y="0"/>
                  </a:moveTo>
                  <a:lnTo>
                    <a:pt x="722489" y="0"/>
                  </a:lnTo>
                  <a:cubicBezTo>
                    <a:pt x="746441" y="0"/>
                    <a:pt x="769412" y="9515"/>
                    <a:pt x="786348" y="26452"/>
                  </a:cubicBezTo>
                  <a:cubicBezTo>
                    <a:pt x="803285" y="43388"/>
                    <a:pt x="812800" y="66359"/>
                    <a:pt x="812800" y="90311"/>
                  </a:cubicBezTo>
                  <a:lnTo>
                    <a:pt x="812800" y="2619022"/>
                  </a:lnTo>
                  <a:cubicBezTo>
                    <a:pt x="812800" y="2642974"/>
                    <a:pt x="803285" y="2665945"/>
                    <a:pt x="786348" y="2682882"/>
                  </a:cubicBezTo>
                  <a:cubicBezTo>
                    <a:pt x="769412" y="2699818"/>
                    <a:pt x="746441" y="2709333"/>
                    <a:pt x="722489" y="2709333"/>
                  </a:cubicBezTo>
                  <a:lnTo>
                    <a:pt x="90311" y="2709333"/>
                  </a:lnTo>
                  <a:cubicBezTo>
                    <a:pt x="40434" y="2709333"/>
                    <a:pt x="0" y="2668900"/>
                    <a:pt x="0" y="2619022"/>
                  </a:cubicBezTo>
                  <a:lnTo>
                    <a:pt x="0" y="90311"/>
                  </a:lnTo>
                  <a:cubicBezTo>
                    <a:pt x="0" y="66359"/>
                    <a:pt x="9515" y="43388"/>
                    <a:pt x="26452" y="26452"/>
                  </a:cubicBezTo>
                  <a:cubicBezTo>
                    <a:pt x="43388" y="9515"/>
                    <a:pt x="66359" y="0"/>
                    <a:pt x="90311" y="0"/>
                  </a:cubicBezTo>
                  <a:close/>
                </a:path>
              </a:pathLst>
            </a:custGeom>
            <a:solidFill>
              <a:srgbClr val="30387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812800" cy="2804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921447" y="847725"/>
            <a:ext cx="16617997" cy="2498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32"/>
              </a:lnSpc>
            </a:pPr>
            <a:r>
              <a:rPr lang="en-US" sz="7572" b="true">
                <a:solidFill>
                  <a:srgbClr val="303870"/>
                </a:solidFill>
                <a:latin typeface="Agrandir Wide Bold"/>
                <a:ea typeface="Agrandir Wide Bold"/>
                <a:cs typeface="Agrandir Wide Bold"/>
                <a:sym typeface="Agrandir Wide Bold"/>
              </a:rPr>
              <a:t>REDIS - IN-MEMORY NOSQL</a:t>
            </a:r>
          </a:p>
          <a:p>
            <a:pPr algn="l">
              <a:lnSpc>
                <a:spcPts val="9202"/>
              </a:lnSpc>
            </a:pPr>
          </a:p>
        </p:txBody>
      </p:sp>
      <p:grpSp>
        <p:nvGrpSpPr>
          <p:cNvPr name="Group 6" id="6"/>
          <p:cNvGrpSpPr/>
          <p:nvPr/>
        </p:nvGrpSpPr>
        <p:grpSpPr>
          <a:xfrm rot="0">
            <a:off x="741519" y="2974989"/>
            <a:ext cx="7920858" cy="2893369"/>
            <a:chOff x="0" y="0"/>
            <a:chExt cx="10561145" cy="3857825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9853968" cy="3857825"/>
              <a:chOff x="0" y="0"/>
              <a:chExt cx="1946463" cy="762039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1946463" cy="762039"/>
              </a:xfrm>
              <a:custGeom>
                <a:avLst/>
                <a:gdLst/>
                <a:ahLst/>
                <a:cxnLst/>
                <a:rect r="r" b="b" t="t" l="l"/>
                <a:pathLst>
                  <a:path h="762039" w="1946463">
                    <a:moveTo>
                      <a:pt x="53425" y="0"/>
                    </a:moveTo>
                    <a:lnTo>
                      <a:pt x="1893038" y="0"/>
                    </a:lnTo>
                    <a:cubicBezTo>
                      <a:pt x="1922544" y="0"/>
                      <a:pt x="1946463" y="23919"/>
                      <a:pt x="1946463" y="53425"/>
                    </a:cubicBezTo>
                    <a:lnTo>
                      <a:pt x="1946463" y="708614"/>
                    </a:lnTo>
                    <a:cubicBezTo>
                      <a:pt x="1946463" y="738120"/>
                      <a:pt x="1922544" y="762039"/>
                      <a:pt x="1893038" y="762039"/>
                    </a:cubicBezTo>
                    <a:lnTo>
                      <a:pt x="53425" y="762039"/>
                    </a:lnTo>
                    <a:cubicBezTo>
                      <a:pt x="23919" y="762039"/>
                      <a:pt x="0" y="738120"/>
                      <a:pt x="0" y="708614"/>
                    </a:cubicBezTo>
                    <a:lnTo>
                      <a:pt x="0" y="53425"/>
                    </a:lnTo>
                    <a:cubicBezTo>
                      <a:pt x="0" y="23919"/>
                      <a:pt x="23919" y="0"/>
                      <a:pt x="53425" y="0"/>
                    </a:cubicBezTo>
                    <a:close/>
                  </a:path>
                </a:pathLst>
              </a:custGeom>
              <a:ln w="3810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95250"/>
                <a:ext cx="1946463" cy="85728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87"/>
                  </a:lnSpc>
                </a:pP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371931" y="1488184"/>
              <a:ext cx="8978871" cy="16046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5103"/>
                </a:lnSpc>
              </a:pPr>
              <a:r>
                <a:rPr lang="en-US" sz="2899">
                  <a:solidFill>
                    <a:srgbClr val="303870"/>
                  </a:solidFill>
                  <a:latin typeface="Nunito"/>
                  <a:ea typeface="Nunito"/>
                  <a:cs typeface="Nunito"/>
                  <a:sym typeface="Nunito"/>
                </a:rPr>
                <a:t>Đạt tốc độ truy xuất dưới 1ms, nhanh hơn hàng trăm lần ổ đĩa cứng.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371931" y="626146"/>
              <a:ext cx="10189213" cy="159810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942"/>
                </a:lnSpc>
              </a:pPr>
              <a:r>
                <a:rPr lang="en-US" sz="3530" b="true">
                  <a:solidFill>
                    <a:srgbClr val="303870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Lưu Trữ Hoàn Toàn RAM</a:t>
              </a:r>
            </a:p>
            <a:p>
              <a:pPr algn="l">
                <a:lnSpc>
                  <a:spcPts val="4942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302242" y="2974989"/>
            <a:ext cx="7836997" cy="2767577"/>
            <a:chOff x="0" y="0"/>
            <a:chExt cx="10449330" cy="3690103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9097693" cy="3690103"/>
              <a:chOff x="0" y="0"/>
              <a:chExt cx="1797075" cy="728909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797075" cy="728909"/>
              </a:xfrm>
              <a:custGeom>
                <a:avLst/>
                <a:gdLst/>
                <a:ahLst/>
                <a:cxnLst/>
                <a:rect r="r" b="b" t="t" l="l"/>
                <a:pathLst>
                  <a:path h="728909" w="1797075">
                    <a:moveTo>
                      <a:pt x="57866" y="0"/>
                    </a:moveTo>
                    <a:lnTo>
                      <a:pt x="1739209" y="0"/>
                    </a:lnTo>
                    <a:cubicBezTo>
                      <a:pt x="1771167" y="0"/>
                      <a:pt x="1797075" y="25908"/>
                      <a:pt x="1797075" y="57866"/>
                    </a:cubicBezTo>
                    <a:lnTo>
                      <a:pt x="1797075" y="671043"/>
                    </a:lnTo>
                    <a:cubicBezTo>
                      <a:pt x="1797075" y="703001"/>
                      <a:pt x="1771167" y="728909"/>
                      <a:pt x="1739209" y="728909"/>
                    </a:cubicBezTo>
                    <a:lnTo>
                      <a:pt x="57866" y="728909"/>
                    </a:lnTo>
                    <a:cubicBezTo>
                      <a:pt x="42519" y="728909"/>
                      <a:pt x="27801" y="722813"/>
                      <a:pt x="16949" y="711960"/>
                    </a:cubicBezTo>
                    <a:cubicBezTo>
                      <a:pt x="6097" y="701108"/>
                      <a:pt x="0" y="686390"/>
                      <a:pt x="0" y="671043"/>
                    </a:cubicBezTo>
                    <a:lnTo>
                      <a:pt x="0" y="57866"/>
                    </a:lnTo>
                    <a:cubicBezTo>
                      <a:pt x="0" y="25908"/>
                      <a:pt x="25908" y="0"/>
                      <a:pt x="57866" y="0"/>
                    </a:cubicBezTo>
                    <a:close/>
                  </a:path>
                </a:pathLst>
              </a:custGeom>
              <a:ln w="3810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95250"/>
                <a:ext cx="1797075" cy="82415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87"/>
                  </a:lnSpc>
                </a:pPr>
              </a:p>
            </p:txBody>
          </p:sp>
        </p:grpSp>
        <p:sp>
          <p:nvSpPr>
            <p:cNvPr name="TextBox 16" id="16"/>
            <p:cNvSpPr txBox="true"/>
            <p:nvPr/>
          </p:nvSpPr>
          <p:spPr>
            <a:xfrm rot="0">
              <a:off x="367993" y="1488184"/>
              <a:ext cx="8363136" cy="153788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4927"/>
                </a:lnSpc>
              </a:pPr>
              <a:r>
                <a:rPr lang="en-US" sz="2799">
                  <a:solidFill>
                    <a:srgbClr val="303870"/>
                  </a:solidFill>
                  <a:latin typeface="Nunito"/>
                  <a:ea typeface="Nunito"/>
                  <a:cs typeface="Nunito"/>
                  <a:sym typeface="Nunito"/>
                </a:rPr>
                <a:t>Không chỉ lưu chuỗi thuần mà hỗ trợ Hash, List, Set, Sorted Set và JSON.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367993" y="682054"/>
              <a:ext cx="10081337" cy="164551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082"/>
                </a:lnSpc>
              </a:pPr>
              <a:r>
                <a:rPr lang="en-US" sz="3630" b="true">
                  <a:solidFill>
                    <a:srgbClr val="303870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Cấu Trúc Key-Value</a:t>
              </a:r>
            </a:p>
            <a:p>
              <a:pPr algn="l">
                <a:lnSpc>
                  <a:spcPts val="5082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5006369" y="6490723"/>
            <a:ext cx="7920858" cy="3017329"/>
            <a:chOff x="0" y="0"/>
            <a:chExt cx="10561145" cy="4023106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10561145" cy="4023106"/>
              <a:chOff x="0" y="0"/>
              <a:chExt cx="2086152" cy="794688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2086152" cy="794688"/>
              </a:xfrm>
              <a:custGeom>
                <a:avLst/>
                <a:gdLst/>
                <a:ahLst/>
                <a:cxnLst/>
                <a:rect r="r" b="b" t="t" l="l"/>
                <a:pathLst>
                  <a:path h="794688" w="2086152">
                    <a:moveTo>
                      <a:pt x="49848" y="0"/>
                    </a:moveTo>
                    <a:lnTo>
                      <a:pt x="2036304" y="0"/>
                    </a:lnTo>
                    <a:cubicBezTo>
                      <a:pt x="2063834" y="0"/>
                      <a:pt x="2086152" y="22318"/>
                      <a:pt x="2086152" y="49848"/>
                    </a:cubicBezTo>
                    <a:lnTo>
                      <a:pt x="2086152" y="744840"/>
                    </a:lnTo>
                    <a:cubicBezTo>
                      <a:pt x="2086152" y="772370"/>
                      <a:pt x="2063834" y="794688"/>
                      <a:pt x="2036304" y="794688"/>
                    </a:cubicBezTo>
                    <a:lnTo>
                      <a:pt x="49848" y="794688"/>
                    </a:lnTo>
                    <a:cubicBezTo>
                      <a:pt x="22318" y="794688"/>
                      <a:pt x="0" y="772370"/>
                      <a:pt x="0" y="744840"/>
                    </a:cubicBezTo>
                    <a:lnTo>
                      <a:pt x="0" y="49848"/>
                    </a:lnTo>
                    <a:cubicBezTo>
                      <a:pt x="0" y="22318"/>
                      <a:pt x="22318" y="0"/>
                      <a:pt x="49848" y="0"/>
                    </a:cubicBezTo>
                    <a:close/>
                  </a:path>
                </a:pathLst>
              </a:custGeom>
              <a:ln w="3810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95250"/>
                <a:ext cx="2086152" cy="88993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87"/>
                  </a:lnSpc>
                </a:pPr>
              </a:p>
            </p:txBody>
          </p:sp>
        </p:grpSp>
        <p:sp>
          <p:nvSpPr>
            <p:cNvPr name="TextBox 22" id="22"/>
            <p:cNvSpPr txBox="true"/>
            <p:nvPr/>
          </p:nvSpPr>
          <p:spPr>
            <a:xfrm rot="0">
              <a:off x="371931" y="1859153"/>
              <a:ext cx="9610529" cy="16459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5279"/>
                </a:lnSpc>
              </a:pPr>
              <a:r>
                <a:rPr lang="en-US" sz="2999">
                  <a:solidFill>
                    <a:srgbClr val="303870"/>
                  </a:solidFill>
                  <a:latin typeface="Nunito"/>
                  <a:ea typeface="Nunito"/>
                  <a:cs typeface="Nunito"/>
                  <a:sym typeface="Nunito"/>
                </a:rPr>
                <a:t>Đảm nhiệm vai trò Caching, Distributed Session Store và Message Broker.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371931" y="682054"/>
              <a:ext cx="10189213" cy="162180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082"/>
                </a:lnSpc>
              </a:pPr>
              <a:r>
                <a:rPr lang="en-US" sz="3630" b="true">
                  <a:solidFill>
                    <a:srgbClr val="303870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Đa Dạng Vai Trò Hạ Tầng</a:t>
              </a:r>
            </a:p>
            <a:p>
              <a:pPr algn="l">
                <a:lnSpc>
                  <a:spcPts val="4942"/>
                </a:lnSpc>
              </a:pP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975214" y="0"/>
            <a:ext cx="2370186" cy="10287000"/>
            <a:chOff x="0" y="0"/>
            <a:chExt cx="624246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24246" cy="2709333"/>
            </a:xfrm>
            <a:custGeom>
              <a:avLst/>
              <a:gdLst/>
              <a:ahLst/>
              <a:cxnLst/>
              <a:rect r="r" b="b" t="t" l="l"/>
              <a:pathLst>
                <a:path h="2709333" w="624246">
                  <a:moveTo>
                    <a:pt x="117590" y="0"/>
                  </a:moveTo>
                  <a:lnTo>
                    <a:pt x="506657" y="0"/>
                  </a:lnTo>
                  <a:cubicBezTo>
                    <a:pt x="537844" y="0"/>
                    <a:pt x="567753" y="12389"/>
                    <a:pt x="589805" y="34441"/>
                  </a:cubicBezTo>
                  <a:cubicBezTo>
                    <a:pt x="611858" y="56494"/>
                    <a:pt x="624246" y="86403"/>
                    <a:pt x="624246" y="117590"/>
                  </a:cubicBezTo>
                  <a:lnTo>
                    <a:pt x="624246" y="2591744"/>
                  </a:lnTo>
                  <a:cubicBezTo>
                    <a:pt x="624246" y="2622930"/>
                    <a:pt x="611858" y="2652840"/>
                    <a:pt x="589805" y="2674892"/>
                  </a:cubicBezTo>
                  <a:cubicBezTo>
                    <a:pt x="567753" y="2696944"/>
                    <a:pt x="537844" y="2709333"/>
                    <a:pt x="506657" y="2709333"/>
                  </a:cubicBezTo>
                  <a:lnTo>
                    <a:pt x="117590" y="2709333"/>
                  </a:lnTo>
                  <a:cubicBezTo>
                    <a:pt x="52647" y="2709333"/>
                    <a:pt x="0" y="2656687"/>
                    <a:pt x="0" y="2591744"/>
                  </a:cubicBezTo>
                  <a:lnTo>
                    <a:pt x="0" y="117590"/>
                  </a:lnTo>
                  <a:cubicBezTo>
                    <a:pt x="0" y="86403"/>
                    <a:pt x="12389" y="56494"/>
                    <a:pt x="34441" y="34441"/>
                  </a:cubicBezTo>
                  <a:cubicBezTo>
                    <a:pt x="56494" y="12389"/>
                    <a:pt x="86403" y="0"/>
                    <a:pt x="117590" y="0"/>
                  </a:cubicBezTo>
                  <a:close/>
                </a:path>
              </a:pathLst>
            </a:custGeom>
            <a:solidFill>
              <a:srgbClr val="30387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624246" cy="2804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2665239"/>
            <a:ext cx="9748641" cy="1824732"/>
            <a:chOff x="0" y="0"/>
            <a:chExt cx="12998188" cy="2432976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8989955" cy="1790562"/>
              <a:chOff x="0" y="0"/>
              <a:chExt cx="1627052" cy="324066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1627052" cy="324066"/>
              </a:xfrm>
              <a:custGeom>
                <a:avLst/>
                <a:gdLst/>
                <a:ahLst/>
                <a:cxnLst/>
                <a:rect r="r" b="b" t="t" l="l"/>
                <a:pathLst>
                  <a:path h="324066" w="1627052">
                    <a:moveTo>
                      <a:pt x="63913" y="0"/>
                    </a:moveTo>
                    <a:lnTo>
                      <a:pt x="1563139" y="0"/>
                    </a:lnTo>
                    <a:cubicBezTo>
                      <a:pt x="1580090" y="0"/>
                      <a:pt x="1596346" y="6734"/>
                      <a:pt x="1608332" y="18720"/>
                    </a:cubicBezTo>
                    <a:cubicBezTo>
                      <a:pt x="1620318" y="30706"/>
                      <a:pt x="1627052" y="46962"/>
                      <a:pt x="1627052" y="63913"/>
                    </a:cubicBezTo>
                    <a:lnTo>
                      <a:pt x="1627052" y="260153"/>
                    </a:lnTo>
                    <a:cubicBezTo>
                      <a:pt x="1627052" y="277104"/>
                      <a:pt x="1620318" y="293360"/>
                      <a:pt x="1608332" y="305346"/>
                    </a:cubicBezTo>
                    <a:cubicBezTo>
                      <a:pt x="1596346" y="317332"/>
                      <a:pt x="1580090" y="324066"/>
                      <a:pt x="1563139" y="324066"/>
                    </a:cubicBezTo>
                    <a:lnTo>
                      <a:pt x="63913" y="324066"/>
                    </a:lnTo>
                    <a:cubicBezTo>
                      <a:pt x="46962" y="324066"/>
                      <a:pt x="30706" y="317332"/>
                      <a:pt x="18720" y="305346"/>
                    </a:cubicBezTo>
                    <a:cubicBezTo>
                      <a:pt x="6734" y="293360"/>
                      <a:pt x="0" y="277104"/>
                      <a:pt x="0" y="260153"/>
                    </a:cubicBezTo>
                    <a:lnTo>
                      <a:pt x="0" y="63913"/>
                    </a:lnTo>
                    <a:cubicBezTo>
                      <a:pt x="0" y="46962"/>
                      <a:pt x="6734" y="30706"/>
                      <a:pt x="18720" y="18720"/>
                    </a:cubicBezTo>
                    <a:cubicBezTo>
                      <a:pt x="30706" y="6734"/>
                      <a:pt x="46962" y="0"/>
                      <a:pt x="63913" y="0"/>
                    </a:cubicBezTo>
                    <a:close/>
                  </a:path>
                </a:pathLst>
              </a:custGeom>
              <a:ln w="3810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95250"/>
                <a:ext cx="1627052" cy="41931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87"/>
                  </a:lnSpc>
                </a:pPr>
              </a:p>
            </p:txBody>
          </p:sp>
        </p:grpSp>
        <p:sp>
          <p:nvSpPr>
            <p:cNvPr name="TextBox 9" id="9"/>
            <p:cNvSpPr txBox="true"/>
            <p:nvPr/>
          </p:nvSpPr>
          <p:spPr>
            <a:xfrm rot="0">
              <a:off x="517007" y="1619112"/>
              <a:ext cx="12481181" cy="8138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5570"/>
                </a:lnSpc>
              </a:pP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2625735" y="507038"/>
              <a:ext cx="7171959" cy="8552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394"/>
                </a:lnSpc>
              </a:pPr>
              <a:r>
                <a:rPr lang="en-US" sz="3853" b="true">
                  <a:solidFill>
                    <a:srgbClr val="FF3131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Quá Tải Đọc Đĩa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396485" y="6435636"/>
            <a:ext cx="10684765" cy="1611568"/>
            <a:chOff x="0" y="0"/>
            <a:chExt cx="14246353" cy="2148757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0" y="0"/>
              <a:ext cx="10588474" cy="2148757"/>
              <a:chOff x="0" y="0"/>
              <a:chExt cx="1813250" cy="367969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1813250" cy="367969"/>
              </a:xfrm>
              <a:custGeom>
                <a:avLst/>
                <a:gdLst/>
                <a:ahLst/>
                <a:cxnLst/>
                <a:rect r="r" b="b" t="t" l="l"/>
                <a:pathLst>
                  <a:path h="367969" w="1813250">
                    <a:moveTo>
                      <a:pt x="54543" y="0"/>
                    </a:moveTo>
                    <a:lnTo>
                      <a:pt x="1758707" y="0"/>
                    </a:lnTo>
                    <a:cubicBezTo>
                      <a:pt x="1773173" y="0"/>
                      <a:pt x="1787046" y="5747"/>
                      <a:pt x="1797275" y="15975"/>
                    </a:cubicBezTo>
                    <a:cubicBezTo>
                      <a:pt x="1807504" y="26204"/>
                      <a:pt x="1813250" y="40078"/>
                      <a:pt x="1813250" y="54543"/>
                    </a:cubicBezTo>
                    <a:lnTo>
                      <a:pt x="1813250" y="313426"/>
                    </a:lnTo>
                    <a:cubicBezTo>
                      <a:pt x="1813250" y="343550"/>
                      <a:pt x="1788830" y="367969"/>
                      <a:pt x="1758707" y="367969"/>
                    </a:cubicBezTo>
                    <a:lnTo>
                      <a:pt x="54543" y="367969"/>
                    </a:lnTo>
                    <a:cubicBezTo>
                      <a:pt x="40078" y="367969"/>
                      <a:pt x="26204" y="362223"/>
                      <a:pt x="15975" y="351994"/>
                    </a:cubicBezTo>
                    <a:cubicBezTo>
                      <a:pt x="5747" y="341765"/>
                      <a:pt x="0" y="327892"/>
                      <a:pt x="0" y="313426"/>
                    </a:cubicBezTo>
                    <a:lnTo>
                      <a:pt x="0" y="54543"/>
                    </a:lnTo>
                    <a:cubicBezTo>
                      <a:pt x="0" y="40078"/>
                      <a:pt x="5747" y="26204"/>
                      <a:pt x="15975" y="15975"/>
                    </a:cubicBezTo>
                    <a:cubicBezTo>
                      <a:pt x="26204" y="5747"/>
                      <a:pt x="40078" y="0"/>
                      <a:pt x="54543" y="0"/>
                    </a:cubicBezTo>
                    <a:close/>
                  </a:path>
                </a:pathLst>
              </a:custGeom>
              <a:ln w="3810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95250"/>
                <a:ext cx="1813250" cy="463219"/>
              </a:xfrm>
              <a:prstGeom prst="rect">
                <a:avLst/>
              </a:prstGeom>
            </p:spPr>
            <p:txBody>
              <a:bodyPr anchor="ctr" rtlCol="false" tIns="53414" lIns="53414" bIns="53414" rIns="53414"/>
              <a:lstStyle/>
              <a:p>
                <a:pPr algn="ctr">
                  <a:lnSpc>
                    <a:spcPts val="3287"/>
                  </a:lnSpc>
                </a:pPr>
              </a:p>
            </p:txBody>
          </p:sp>
        </p:grpSp>
        <p:sp>
          <p:nvSpPr>
            <p:cNvPr name="TextBox 15" id="15"/>
            <p:cNvSpPr txBox="true"/>
            <p:nvPr/>
          </p:nvSpPr>
          <p:spPr>
            <a:xfrm rot="0">
              <a:off x="2790148" y="628027"/>
              <a:ext cx="11456206" cy="8996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701"/>
                </a:lnSpc>
              </a:pPr>
              <a:r>
                <a:rPr lang="en-US" sz="4072" b="true">
                  <a:solidFill>
                    <a:srgbClr val="FF3131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Mất Phiên Đăng Nhập</a:t>
              </a:r>
            </a:p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777572" y="610918"/>
              <a:ext cx="1287373" cy="1021725"/>
            </a:xfrm>
            <a:custGeom>
              <a:avLst/>
              <a:gdLst/>
              <a:ahLst/>
              <a:cxnLst/>
              <a:rect r="r" b="b" t="t" l="l"/>
              <a:pathLst>
                <a:path h="1021725" w="1287373">
                  <a:moveTo>
                    <a:pt x="0" y="0"/>
                  </a:moveTo>
                  <a:lnTo>
                    <a:pt x="1287373" y="0"/>
                  </a:lnTo>
                  <a:lnTo>
                    <a:pt x="1287373" y="1021724"/>
                  </a:lnTo>
                  <a:lnTo>
                    <a:pt x="0" y="10217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3843794" y="4489971"/>
            <a:ext cx="10571063" cy="1581113"/>
            <a:chOff x="0" y="0"/>
            <a:chExt cx="14094750" cy="2108151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0" y="0"/>
              <a:ext cx="12674937" cy="2108151"/>
              <a:chOff x="0" y="0"/>
              <a:chExt cx="2352516" cy="391281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2352516" cy="391281"/>
              </a:xfrm>
              <a:custGeom>
                <a:avLst/>
                <a:gdLst/>
                <a:ahLst/>
                <a:cxnLst/>
                <a:rect r="r" b="b" t="t" l="l"/>
                <a:pathLst>
                  <a:path h="391281" w="2352516">
                    <a:moveTo>
                      <a:pt x="42040" y="0"/>
                    </a:moveTo>
                    <a:lnTo>
                      <a:pt x="2310475" y="0"/>
                    </a:lnTo>
                    <a:cubicBezTo>
                      <a:pt x="2321625" y="0"/>
                      <a:pt x="2332318" y="4429"/>
                      <a:pt x="2340202" y="12313"/>
                    </a:cubicBezTo>
                    <a:cubicBezTo>
                      <a:pt x="2348087" y="20197"/>
                      <a:pt x="2352516" y="30891"/>
                      <a:pt x="2352516" y="42040"/>
                    </a:cubicBezTo>
                    <a:lnTo>
                      <a:pt x="2352516" y="349240"/>
                    </a:lnTo>
                    <a:cubicBezTo>
                      <a:pt x="2352516" y="360390"/>
                      <a:pt x="2348087" y="371083"/>
                      <a:pt x="2340202" y="378967"/>
                    </a:cubicBezTo>
                    <a:cubicBezTo>
                      <a:pt x="2332318" y="386851"/>
                      <a:pt x="2321625" y="391281"/>
                      <a:pt x="2310475" y="391281"/>
                    </a:cubicBezTo>
                    <a:lnTo>
                      <a:pt x="42040" y="391281"/>
                    </a:lnTo>
                    <a:cubicBezTo>
                      <a:pt x="30891" y="391281"/>
                      <a:pt x="20197" y="386851"/>
                      <a:pt x="12313" y="378967"/>
                    </a:cubicBezTo>
                    <a:cubicBezTo>
                      <a:pt x="4429" y="371083"/>
                      <a:pt x="0" y="360390"/>
                      <a:pt x="0" y="349240"/>
                    </a:cubicBezTo>
                    <a:lnTo>
                      <a:pt x="0" y="42040"/>
                    </a:lnTo>
                    <a:cubicBezTo>
                      <a:pt x="0" y="30891"/>
                      <a:pt x="4429" y="20197"/>
                      <a:pt x="12313" y="12313"/>
                    </a:cubicBezTo>
                    <a:cubicBezTo>
                      <a:pt x="20197" y="4429"/>
                      <a:pt x="30891" y="0"/>
                      <a:pt x="42040" y="0"/>
                    </a:cubicBezTo>
                    <a:close/>
                  </a:path>
                </a:pathLst>
              </a:custGeom>
              <a:ln w="3810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95250"/>
                <a:ext cx="2352516" cy="486531"/>
              </a:xfrm>
              <a:prstGeom prst="rect">
                <a:avLst/>
              </a:prstGeom>
            </p:spPr>
            <p:txBody>
              <a:bodyPr anchor="ctr" rtlCol="false" tIns="53414" lIns="53414" bIns="53414" rIns="53414"/>
              <a:lstStyle/>
              <a:p>
                <a:pPr algn="ctr">
                  <a:lnSpc>
                    <a:spcPts val="3287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1761741" y="583081"/>
              <a:ext cx="12333009" cy="87531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0"/>
                </a:lnSpc>
              </a:pPr>
              <a:r>
                <a:rPr lang="en-US" sz="3993" b="true">
                  <a:solidFill>
                    <a:srgbClr val="FF3131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Chi phí tính toán lặp lại vô ích</a:t>
              </a:r>
            </a:p>
          </p:txBody>
        </p:sp>
        <p:sp>
          <p:nvSpPr>
            <p:cNvPr name="Freeform 22" id="22"/>
            <p:cNvSpPr/>
            <p:nvPr/>
          </p:nvSpPr>
          <p:spPr>
            <a:xfrm flipH="false" flipV="false" rot="0">
              <a:off x="499304" y="456424"/>
              <a:ext cx="884525" cy="1195304"/>
            </a:xfrm>
            <a:custGeom>
              <a:avLst/>
              <a:gdLst/>
              <a:ahLst/>
              <a:cxnLst/>
              <a:rect r="r" b="b" t="t" l="l"/>
              <a:pathLst>
                <a:path h="1195304" w="884525">
                  <a:moveTo>
                    <a:pt x="0" y="0"/>
                  </a:moveTo>
                  <a:lnTo>
                    <a:pt x="884524" y="0"/>
                  </a:lnTo>
                  <a:lnTo>
                    <a:pt x="884524" y="1195303"/>
                  </a:lnTo>
                  <a:lnTo>
                    <a:pt x="0" y="11953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Freeform 23" id="23"/>
          <p:cNvSpPr/>
          <p:nvPr/>
        </p:nvSpPr>
        <p:spPr>
          <a:xfrm flipH="false" flipV="false" rot="0">
            <a:off x="1624528" y="2783242"/>
            <a:ext cx="1080589" cy="1080589"/>
          </a:xfrm>
          <a:custGeom>
            <a:avLst/>
            <a:gdLst/>
            <a:ahLst/>
            <a:cxnLst/>
            <a:rect r="r" b="b" t="t" l="l"/>
            <a:pathLst>
              <a:path h="1080589" w="1080589">
                <a:moveTo>
                  <a:pt x="0" y="0"/>
                </a:moveTo>
                <a:lnTo>
                  <a:pt x="1080588" y="0"/>
                </a:lnTo>
                <a:lnTo>
                  <a:pt x="1080588" y="1080589"/>
                </a:lnTo>
                <a:lnTo>
                  <a:pt x="0" y="10805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-186950" y="552845"/>
            <a:ext cx="17975214" cy="846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81"/>
              </a:lnSpc>
            </a:pPr>
            <a:r>
              <a:rPr lang="en-US" b="true" sz="4896">
                <a:solidFill>
                  <a:srgbClr val="303870"/>
                </a:solidFill>
                <a:latin typeface="Agrandir Wide Bold"/>
                <a:ea typeface="Agrandir Wide Bold"/>
                <a:cs typeface="Agrandir Wide Bold"/>
                <a:sym typeface="Agrandir Wide Bold"/>
              </a:rPr>
              <a:t>TẠI SAO HỆ THỐNG CẦN ĐẾN LỚP ĐỆM REDIS?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259300" y="0"/>
            <a:ext cx="3086100" cy="10287000"/>
            <a:chOff x="0" y="0"/>
            <a:chExt cx="812800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2709333"/>
            </a:xfrm>
            <a:custGeom>
              <a:avLst/>
              <a:gdLst/>
              <a:ahLst/>
              <a:cxnLst/>
              <a:rect r="r" b="b" t="t" l="l"/>
              <a:pathLst>
                <a:path h="2709333" w="812800">
                  <a:moveTo>
                    <a:pt x="90311" y="0"/>
                  </a:moveTo>
                  <a:lnTo>
                    <a:pt x="722489" y="0"/>
                  </a:lnTo>
                  <a:cubicBezTo>
                    <a:pt x="746441" y="0"/>
                    <a:pt x="769412" y="9515"/>
                    <a:pt x="786348" y="26452"/>
                  </a:cubicBezTo>
                  <a:cubicBezTo>
                    <a:pt x="803285" y="43388"/>
                    <a:pt x="812800" y="66359"/>
                    <a:pt x="812800" y="90311"/>
                  </a:cubicBezTo>
                  <a:lnTo>
                    <a:pt x="812800" y="2619022"/>
                  </a:lnTo>
                  <a:cubicBezTo>
                    <a:pt x="812800" y="2642974"/>
                    <a:pt x="803285" y="2665945"/>
                    <a:pt x="786348" y="2682882"/>
                  </a:cubicBezTo>
                  <a:cubicBezTo>
                    <a:pt x="769412" y="2699818"/>
                    <a:pt x="746441" y="2709333"/>
                    <a:pt x="722489" y="2709333"/>
                  </a:cubicBezTo>
                  <a:lnTo>
                    <a:pt x="90311" y="2709333"/>
                  </a:lnTo>
                  <a:cubicBezTo>
                    <a:pt x="40434" y="2709333"/>
                    <a:pt x="0" y="2668900"/>
                    <a:pt x="0" y="2619022"/>
                  </a:cubicBezTo>
                  <a:lnTo>
                    <a:pt x="0" y="90311"/>
                  </a:lnTo>
                  <a:cubicBezTo>
                    <a:pt x="0" y="66359"/>
                    <a:pt x="9515" y="43388"/>
                    <a:pt x="26452" y="26452"/>
                  </a:cubicBezTo>
                  <a:cubicBezTo>
                    <a:pt x="43388" y="9515"/>
                    <a:pt x="66359" y="0"/>
                    <a:pt x="90311" y="0"/>
                  </a:cubicBezTo>
                  <a:close/>
                </a:path>
              </a:pathLst>
            </a:custGeom>
            <a:solidFill>
              <a:srgbClr val="30387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812800" cy="2804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921447" y="1278649"/>
            <a:ext cx="15900858" cy="22128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76"/>
              </a:lnSpc>
            </a:pPr>
            <a:r>
              <a:rPr lang="en-US" sz="6734" b="true">
                <a:solidFill>
                  <a:srgbClr val="303870"/>
                </a:solidFill>
                <a:latin typeface="Agrandir Wide Bold"/>
                <a:ea typeface="Agrandir Wide Bold"/>
                <a:cs typeface="Agrandir Wide Bold"/>
                <a:sym typeface="Agrandir Wide Bold"/>
              </a:rPr>
              <a:t>HAI TRỤ CỘT TỐI ƯU HỆ THỐNG</a:t>
            </a:r>
          </a:p>
          <a:p>
            <a:pPr algn="l">
              <a:lnSpc>
                <a:spcPts val="8183"/>
              </a:lnSpc>
            </a:pPr>
          </a:p>
        </p:txBody>
      </p:sp>
      <p:grpSp>
        <p:nvGrpSpPr>
          <p:cNvPr name="Group 6" id="6"/>
          <p:cNvGrpSpPr/>
          <p:nvPr/>
        </p:nvGrpSpPr>
        <p:grpSpPr>
          <a:xfrm rot="0">
            <a:off x="741519" y="4068903"/>
            <a:ext cx="7920858" cy="3229958"/>
            <a:chOff x="0" y="0"/>
            <a:chExt cx="10561145" cy="4306610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10115760" cy="4306610"/>
              <a:chOff x="0" y="0"/>
              <a:chExt cx="1998175" cy="850688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1998175" cy="850688"/>
              </a:xfrm>
              <a:custGeom>
                <a:avLst/>
                <a:gdLst/>
                <a:ahLst/>
                <a:cxnLst/>
                <a:rect r="r" b="b" t="t" l="l"/>
                <a:pathLst>
                  <a:path h="850688" w="1998175">
                    <a:moveTo>
                      <a:pt x="52043" y="0"/>
                    </a:moveTo>
                    <a:lnTo>
                      <a:pt x="1946132" y="0"/>
                    </a:lnTo>
                    <a:cubicBezTo>
                      <a:pt x="1974874" y="0"/>
                      <a:pt x="1998175" y="23300"/>
                      <a:pt x="1998175" y="52043"/>
                    </a:cubicBezTo>
                    <a:lnTo>
                      <a:pt x="1998175" y="798646"/>
                    </a:lnTo>
                    <a:cubicBezTo>
                      <a:pt x="1998175" y="827388"/>
                      <a:pt x="1974874" y="850688"/>
                      <a:pt x="1946132" y="850688"/>
                    </a:cubicBezTo>
                    <a:lnTo>
                      <a:pt x="52043" y="850688"/>
                    </a:lnTo>
                    <a:cubicBezTo>
                      <a:pt x="23300" y="850688"/>
                      <a:pt x="0" y="827388"/>
                      <a:pt x="0" y="798646"/>
                    </a:cubicBezTo>
                    <a:lnTo>
                      <a:pt x="0" y="52043"/>
                    </a:lnTo>
                    <a:cubicBezTo>
                      <a:pt x="0" y="23300"/>
                      <a:pt x="23300" y="0"/>
                      <a:pt x="52043" y="0"/>
                    </a:cubicBezTo>
                    <a:close/>
                  </a:path>
                </a:pathLst>
              </a:custGeom>
              <a:ln w="3810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95250"/>
                <a:ext cx="1998175" cy="94593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87"/>
                  </a:lnSpc>
                </a:pP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371931" y="1488184"/>
              <a:ext cx="9482037" cy="24682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5103"/>
                </a:lnSpc>
              </a:pPr>
              <a:r>
                <a:rPr lang="en-US" sz="2899">
                  <a:solidFill>
                    <a:srgbClr val="303870"/>
                  </a:solidFill>
                  <a:latin typeface="Nunito"/>
                  <a:ea typeface="Nunito"/>
                  <a:cs typeface="Nunito"/>
                  <a:sym typeface="Nunito"/>
                </a:rPr>
                <a:t>Kỹ thuật lưu trữ tạm thời dữ liệu nóng trên RAM tốc độ cao. Tiết kiệm tài nguyên, bỏ qua bước quét ổ cứng Database.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371931" y="616621"/>
              <a:ext cx="10189213" cy="17261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42"/>
                </a:lnSpc>
              </a:pPr>
              <a:r>
                <a:rPr lang="en-US" sz="4030" b="true">
                  <a:solidFill>
                    <a:srgbClr val="122359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Caching</a:t>
              </a:r>
            </a:p>
            <a:p>
              <a:pPr algn="l">
                <a:lnSpc>
                  <a:spcPts val="4942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554684" y="4068903"/>
            <a:ext cx="7836997" cy="3244411"/>
            <a:chOff x="0" y="0"/>
            <a:chExt cx="10449330" cy="4325882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9097693" cy="4325882"/>
              <a:chOff x="0" y="0"/>
              <a:chExt cx="1797075" cy="854495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797075" cy="854495"/>
              </a:xfrm>
              <a:custGeom>
                <a:avLst/>
                <a:gdLst/>
                <a:ahLst/>
                <a:cxnLst/>
                <a:rect r="r" b="b" t="t" l="l"/>
                <a:pathLst>
                  <a:path h="854495" w="1797075">
                    <a:moveTo>
                      <a:pt x="57866" y="0"/>
                    </a:moveTo>
                    <a:lnTo>
                      <a:pt x="1739209" y="0"/>
                    </a:lnTo>
                    <a:cubicBezTo>
                      <a:pt x="1771167" y="0"/>
                      <a:pt x="1797075" y="25908"/>
                      <a:pt x="1797075" y="57866"/>
                    </a:cubicBezTo>
                    <a:lnTo>
                      <a:pt x="1797075" y="796629"/>
                    </a:lnTo>
                    <a:cubicBezTo>
                      <a:pt x="1797075" y="828588"/>
                      <a:pt x="1771167" y="854495"/>
                      <a:pt x="1739209" y="854495"/>
                    </a:cubicBezTo>
                    <a:lnTo>
                      <a:pt x="57866" y="854495"/>
                    </a:lnTo>
                    <a:cubicBezTo>
                      <a:pt x="25908" y="854495"/>
                      <a:pt x="0" y="828588"/>
                      <a:pt x="0" y="796629"/>
                    </a:cubicBezTo>
                    <a:lnTo>
                      <a:pt x="0" y="57866"/>
                    </a:lnTo>
                    <a:cubicBezTo>
                      <a:pt x="0" y="25908"/>
                      <a:pt x="25908" y="0"/>
                      <a:pt x="57866" y="0"/>
                    </a:cubicBezTo>
                    <a:close/>
                  </a:path>
                </a:pathLst>
              </a:custGeom>
              <a:ln w="3810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95250"/>
                <a:ext cx="1797075" cy="94974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87"/>
                  </a:lnSpc>
                </a:pPr>
              </a:p>
            </p:txBody>
          </p:sp>
        </p:grpSp>
        <p:sp>
          <p:nvSpPr>
            <p:cNvPr name="TextBox 16" id="16"/>
            <p:cNvSpPr txBox="true"/>
            <p:nvPr/>
          </p:nvSpPr>
          <p:spPr>
            <a:xfrm rot="0">
              <a:off x="367993" y="1488184"/>
              <a:ext cx="8363136" cy="236338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4927"/>
                </a:lnSpc>
              </a:pPr>
              <a:r>
                <a:rPr lang="en-US" sz="2799">
                  <a:solidFill>
                    <a:srgbClr val="303870"/>
                  </a:solidFill>
                  <a:latin typeface="Nunito"/>
                  <a:ea typeface="Nunito"/>
                  <a:cs typeface="Nunito"/>
                  <a:sym typeface="Nunito"/>
                </a:rPr>
                <a:t>Kho lưu trạng thái đăng nhập người dùng tập trung. Truy xuất cực nhanh, đồng bộ toàn bộ cụm Microservices.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367993" y="672529"/>
              <a:ext cx="10081337" cy="18446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42"/>
                </a:lnSpc>
              </a:pPr>
              <a:r>
                <a:rPr lang="en-US" sz="4030" b="true">
                  <a:solidFill>
                    <a:srgbClr val="303870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Session Storage</a:t>
              </a:r>
            </a:p>
            <a:p>
              <a:pPr algn="l">
                <a:lnSpc>
                  <a:spcPts val="5642"/>
                </a:lnSpc>
              </a:pP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259300" y="0"/>
            <a:ext cx="3086100" cy="10287000"/>
            <a:chOff x="0" y="0"/>
            <a:chExt cx="812800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2709333"/>
            </a:xfrm>
            <a:custGeom>
              <a:avLst/>
              <a:gdLst/>
              <a:ahLst/>
              <a:cxnLst/>
              <a:rect r="r" b="b" t="t" l="l"/>
              <a:pathLst>
                <a:path h="2709333" w="812800">
                  <a:moveTo>
                    <a:pt x="90311" y="0"/>
                  </a:moveTo>
                  <a:lnTo>
                    <a:pt x="722489" y="0"/>
                  </a:lnTo>
                  <a:cubicBezTo>
                    <a:pt x="746441" y="0"/>
                    <a:pt x="769412" y="9515"/>
                    <a:pt x="786348" y="26452"/>
                  </a:cubicBezTo>
                  <a:cubicBezTo>
                    <a:pt x="803285" y="43388"/>
                    <a:pt x="812800" y="66359"/>
                    <a:pt x="812800" y="90311"/>
                  </a:cubicBezTo>
                  <a:lnTo>
                    <a:pt x="812800" y="2619022"/>
                  </a:lnTo>
                  <a:cubicBezTo>
                    <a:pt x="812800" y="2642974"/>
                    <a:pt x="803285" y="2665945"/>
                    <a:pt x="786348" y="2682882"/>
                  </a:cubicBezTo>
                  <a:cubicBezTo>
                    <a:pt x="769412" y="2699818"/>
                    <a:pt x="746441" y="2709333"/>
                    <a:pt x="722489" y="2709333"/>
                  </a:cubicBezTo>
                  <a:lnTo>
                    <a:pt x="90311" y="2709333"/>
                  </a:lnTo>
                  <a:cubicBezTo>
                    <a:pt x="40434" y="2709333"/>
                    <a:pt x="0" y="2668900"/>
                    <a:pt x="0" y="2619022"/>
                  </a:cubicBezTo>
                  <a:lnTo>
                    <a:pt x="0" y="90311"/>
                  </a:lnTo>
                  <a:cubicBezTo>
                    <a:pt x="0" y="66359"/>
                    <a:pt x="9515" y="43388"/>
                    <a:pt x="26452" y="26452"/>
                  </a:cubicBezTo>
                  <a:cubicBezTo>
                    <a:pt x="43388" y="9515"/>
                    <a:pt x="66359" y="0"/>
                    <a:pt x="90311" y="0"/>
                  </a:cubicBezTo>
                  <a:close/>
                </a:path>
              </a:pathLst>
            </a:custGeom>
            <a:solidFill>
              <a:srgbClr val="30387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812800" cy="2804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577076" y="1252198"/>
            <a:ext cx="16381672" cy="1195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40"/>
              </a:lnSpc>
            </a:pPr>
            <a:r>
              <a:rPr lang="en-US" sz="6877" b="true">
                <a:solidFill>
                  <a:srgbClr val="303870"/>
                </a:solidFill>
                <a:latin typeface="Agrandir Wide Bold"/>
                <a:ea typeface="Agrandir Wide Bold"/>
                <a:cs typeface="Agrandir Wide Bold"/>
                <a:sym typeface="Agrandir Wide Bold"/>
              </a:rPr>
              <a:t>LUỒNG CACHE-ASIDE PATTERN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412336" y="4305626"/>
            <a:ext cx="4204375" cy="2700990"/>
            <a:chOff x="0" y="0"/>
            <a:chExt cx="5605833" cy="3601320"/>
          </a:xfrm>
        </p:grpSpPr>
        <p:grpSp>
          <p:nvGrpSpPr>
            <p:cNvPr name="Group 7" id="7"/>
            <p:cNvGrpSpPr/>
            <p:nvPr/>
          </p:nvGrpSpPr>
          <p:grpSpPr>
            <a:xfrm rot="-5400000">
              <a:off x="1312451" y="-692061"/>
              <a:ext cx="3601320" cy="4985442"/>
              <a:chOff x="0" y="0"/>
              <a:chExt cx="381000" cy="527433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381000" cy="527433"/>
              </a:xfrm>
              <a:custGeom>
                <a:avLst/>
                <a:gdLst/>
                <a:ahLst/>
                <a:cxnLst/>
                <a:rect r="r" b="b" t="t" l="l"/>
                <a:pathLst>
                  <a:path h="527433" w="381000">
                    <a:moveTo>
                      <a:pt x="381000" y="48325"/>
                    </a:moveTo>
                    <a:lnTo>
                      <a:pt x="381000" y="358523"/>
                    </a:lnTo>
                    <a:lnTo>
                      <a:pt x="190500" y="527433"/>
                    </a:lnTo>
                    <a:lnTo>
                      <a:pt x="0" y="358523"/>
                    </a:lnTo>
                    <a:lnTo>
                      <a:pt x="0" y="48325"/>
                    </a:lnTo>
                    <a:cubicBezTo>
                      <a:pt x="0" y="22860"/>
                      <a:pt x="22860" y="0"/>
                      <a:pt x="49530" y="0"/>
                    </a:cubicBezTo>
                    <a:lnTo>
                      <a:pt x="331470" y="0"/>
                    </a:lnTo>
                    <a:cubicBezTo>
                      <a:pt x="358140" y="0"/>
                      <a:pt x="381000" y="22860"/>
                      <a:pt x="381000" y="48325"/>
                    </a:cubicBezTo>
                    <a:close/>
                  </a:path>
                </a:pathLst>
              </a:custGeom>
              <a:solidFill>
                <a:srgbClr val="C9E1EB"/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95250"/>
                <a:ext cx="381000" cy="44615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87"/>
                  </a:lnSpc>
                </a:pP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0" y="587670"/>
              <a:ext cx="5062275" cy="64916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194"/>
                </a:lnSpc>
                <a:spcBef>
                  <a:spcPct val="0"/>
                </a:spcBef>
              </a:pPr>
              <a:r>
                <a:rPr lang="en-US" b="true" sz="2995">
                  <a:solidFill>
                    <a:srgbClr val="303870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Kiểm Tra Cache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819496" y="1512996"/>
              <a:ext cx="3764858" cy="11524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502"/>
                </a:lnSpc>
                <a:spcBef>
                  <a:spcPct val="0"/>
                </a:spcBef>
              </a:pPr>
              <a:r>
                <a:rPr lang="en-US" b="true" sz="2501">
                  <a:solidFill>
                    <a:srgbClr val="303870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Dịch vụ gửi lệnh GET kiểm tra khóa.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6486251" y="6557804"/>
            <a:ext cx="3739082" cy="2700990"/>
            <a:chOff x="0" y="0"/>
            <a:chExt cx="4985442" cy="3601320"/>
          </a:xfrm>
        </p:grpSpPr>
        <p:grpSp>
          <p:nvGrpSpPr>
            <p:cNvPr name="Group 13" id="13"/>
            <p:cNvGrpSpPr/>
            <p:nvPr/>
          </p:nvGrpSpPr>
          <p:grpSpPr>
            <a:xfrm rot="-5400000">
              <a:off x="692061" y="-692061"/>
              <a:ext cx="3601320" cy="4985442"/>
              <a:chOff x="0" y="0"/>
              <a:chExt cx="381000" cy="527433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381000" cy="527433"/>
              </a:xfrm>
              <a:custGeom>
                <a:avLst/>
                <a:gdLst/>
                <a:ahLst/>
                <a:cxnLst/>
                <a:rect r="r" b="b" t="t" l="l"/>
                <a:pathLst>
                  <a:path h="527433" w="381000">
                    <a:moveTo>
                      <a:pt x="381000" y="48325"/>
                    </a:moveTo>
                    <a:lnTo>
                      <a:pt x="381000" y="358523"/>
                    </a:lnTo>
                    <a:lnTo>
                      <a:pt x="190500" y="527433"/>
                    </a:lnTo>
                    <a:lnTo>
                      <a:pt x="0" y="358523"/>
                    </a:lnTo>
                    <a:lnTo>
                      <a:pt x="0" y="48325"/>
                    </a:lnTo>
                    <a:cubicBezTo>
                      <a:pt x="0" y="22860"/>
                      <a:pt x="22860" y="0"/>
                      <a:pt x="49530" y="0"/>
                    </a:cubicBezTo>
                    <a:lnTo>
                      <a:pt x="331470" y="0"/>
                    </a:lnTo>
                    <a:cubicBezTo>
                      <a:pt x="358140" y="0"/>
                      <a:pt x="381000" y="22860"/>
                      <a:pt x="381000" y="48325"/>
                    </a:cubicBezTo>
                    <a:close/>
                  </a:path>
                </a:pathLst>
              </a:custGeom>
              <a:solidFill>
                <a:srgbClr val="FBDBDB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95250"/>
                <a:ext cx="381000" cy="44615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87"/>
                  </a:lnSpc>
                </a:pPr>
              </a:p>
            </p:txBody>
          </p:sp>
        </p:grpSp>
        <p:sp>
          <p:nvSpPr>
            <p:cNvPr name="TextBox 16" id="16"/>
            <p:cNvSpPr txBox="true"/>
            <p:nvPr/>
          </p:nvSpPr>
          <p:spPr>
            <a:xfrm rot="0">
              <a:off x="146817" y="611645"/>
              <a:ext cx="3647737" cy="13521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194"/>
                </a:lnSpc>
                <a:spcBef>
                  <a:spcPct val="0"/>
                </a:spcBef>
              </a:pPr>
              <a:r>
                <a:rPr lang="en-US" b="true" sz="2995">
                  <a:solidFill>
                    <a:srgbClr val="303870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Cache Hit</a:t>
              </a:r>
            </a:p>
            <a:p>
              <a:pPr algn="ctr">
                <a:lnSpc>
                  <a:spcPts val="4194"/>
                </a:lnSpc>
                <a:spcBef>
                  <a:spcPct val="0"/>
                </a:spcBef>
              </a:pP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199105" y="1512996"/>
              <a:ext cx="3764858" cy="11524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502"/>
                </a:lnSpc>
                <a:spcBef>
                  <a:spcPct val="0"/>
                </a:spcBef>
              </a:pPr>
              <a:r>
                <a:rPr lang="en-US" b="true" sz="2501">
                  <a:solidFill>
                    <a:srgbClr val="303870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Dữ liệu trả về ngay lập tức cho client.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6486251" y="3152211"/>
            <a:ext cx="3739082" cy="2700990"/>
            <a:chOff x="0" y="0"/>
            <a:chExt cx="4985442" cy="3601320"/>
          </a:xfrm>
        </p:grpSpPr>
        <p:grpSp>
          <p:nvGrpSpPr>
            <p:cNvPr name="Group 19" id="19"/>
            <p:cNvGrpSpPr/>
            <p:nvPr/>
          </p:nvGrpSpPr>
          <p:grpSpPr>
            <a:xfrm rot="-5400000">
              <a:off x="692061" y="-692061"/>
              <a:ext cx="3601320" cy="4985442"/>
              <a:chOff x="0" y="0"/>
              <a:chExt cx="381000" cy="527433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381000" cy="527433"/>
              </a:xfrm>
              <a:custGeom>
                <a:avLst/>
                <a:gdLst/>
                <a:ahLst/>
                <a:cxnLst/>
                <a:rect r="r" b="b" t="t" l="l"/>
                <a:pathLst>
                  <a:path h="527433" w="381000">
                    <a:moveTo>
                      <a:pt x="381000" y="48325"/>
                    </a:moveTo>
                    <a:lnTo>
                      <a:pt x="381000" y="358523"/>
                    </a:lnTo>
                    <a:lnTo>
                      <a:pt x="190500" y="527433"/>
                    </a:lnTo>
                    <a:lnTo>
                      <a:pt x="0" y="358523"/>
                    </a:lnTo>
                    <a:lnTo>
                      <a:pt x="0" y="48325"/>
                    </a:lnTo>
                    <a:cubicBezTo>
                      <a:pt x="0" y="22860"/>
                      <a:pt x="22860" y="0"/>
                      <a:pt x="49530" y="0"/>
                    </a:cubicBezTo>
                    <a:lnTo>
                      <a:pt x="331470" y="0"/>
                    </a:lnTo>
                    <a:cubicBezTo>
                      <a:pt x="358140" y="0"/>
                      <a:pt x="381000" y="22860"/>
                      <a:pt x="381000" y="48325"/>
                    </a:cubicBezTo>
                    <a:close/>
                  </a:path>
                </a:pathLst>
              </a:custGeom>
              <a:solidFill>
                <a:srgbClr val="C9E1EB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95250"/>
                <a:ext cx="381000" cy="44615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87"/>
                  </a:lnSpc>
                </a:pPr>
              </a:p>
            </p:txBody>
          </p:sp>
        </p:grpSp>
        <p:sp>
          <p:nvSpPr>
            <p:cNvPr name="TextBox 22" id="22"/>
            <p:cNvSpPr txBox="true"/>
            <p:nvPr/>
          </p:nvSpPr>
          <p:spPr>
            <a:xfrm rot="0">
              <a:off x="146817" y="611645"/>
              <a:ext cx="3647737" cy="64916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194"/>
                </a:lnSpc>
                <a:spcBef>
                  <a:spcPct val="0"/>
                </a:spcBef>
              </a:pPr>
              <a:r>
                <a:rPr lang="en-US" b="true" sz="2995">
                  <a:solidFill>
                    <a:srgbClr val="303870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Cache Miss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382656" y="1523250"/>
              <a:ext cx="3764858" cy="11524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502"/>
                </a:lnSpc>
                <a:spcBef>
                  <a:spcPct val="0"/>
                </a:spcBef>
              </a:pPr>
              <a:r>
                <a:rPr lang="en-US" b="true" sz="2501">
                  <a:solidFill>
                    <a:srgbClr val="303870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Đọ</a:t>
              </a:r>
              <a:r>
                <a:rPr lang="en-US" b="true" sz="2501">
                  <a:solidFill>
                    <a:srgbClr val="303870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c cơ sở dữ liệu gốc.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2094874" y="4305626"/>
            <a:ext cx="3739082" cy="2700990"/>
            <a:chOff x="0" y="0"/>
            <a:chExt cx="4985442" cy="3601320"/>
          </a:xfrm>
        </p:grpSpPr>
        <p:grpSp>
          <p:nvGrpSpPr>
            <p:cNvPr name="Group 25" id="25"/>
            <p:cNvGrpSpPr/>
            <p:nvPr/>
          </p:nvGrpSpPr>
          <p:grpSpPr>
            <a:xfrm rot="-5400000">
              <a:off x="692061" y="-692061"/>
              <a:ext cx="3601320" cy="4985442"/>
              <a:chOff x="0" y="0"/>
              <a:chExt cx="381000" cy="527433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381000" cy="527433"/>
              </a:xfrm>
              <a:custGeom>
                <a:avLst/>
                <a:gdLst/>
                <a:ahLst/>
                <a:cxnLst/>
                <a:rect r="r" b="b" t="t" l="l"/>
                <a:pathLst>
                  <a:path h="527433" w="381000">
                    <a:moveTo>
                      <a:pt x="381000" y="48325"/>
                    </a:moveTo>
                    <a:lnTo>
                      <a:pt x="381000" y="358523"/>
                    </a:lnTo>
                    <a:lnTo>
                      <a:pt x="190500" y="527433"/>
                    </a:lnTo>
                    <a:lnTo>
                      <a:pt x="0" y="358523"/>
                    </a:lnTo>
                    <a:lnTo>
                      <a:pt x="0" y="48325"/>
                    </a:lnTo>
                    <a:cubicBezTo>
                      <a:pt x="0" y="22860"/>
                      <a:pt x="22860" y="0"/>
                      <a:pt x="49530" y="0"/>
                    </a:cubicBezTo>
                    <a:lnTo>
                      <a:pt x="331470" y="0"/>
                    </a:lnTo>
                    <a:cubicBezTo>
                      <a:pt x="358140" y="0"/>
                      <a:pt x="381000" y="22860"/>
                      <a:pt x="381000" y="48325"/>
                    </a:cubicBezTo>
                    <a:close/>
                  </a:path>
                </a:pathLst>
              </a:custGeom>
              <a:solidFill>
                <a:srgbClr val="FBDBDB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95250"/>
                <a:ext cx="381000" cy="44615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287"/>
                  </a:lnSpc>
                </a:pP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146817" y="611645"/>
              <a:ext cx="3647737" cy="64916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194"/>
                </a:lnSpc>
                <a:spcBef>
                  <a:spcPct val="0"/>
                </a:spcBef>
              </a:pPr>
              <a:r>
                <a:rPr lang="en-US" b="true" sz="2995">
                  <a:solidFill>
                    <a:srgbClr val="303870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Đồng</a:t>
              </a:r>
              <a:r>
                <a:rPr lang="en-US" b="true" sz="2995">
                  <a:solidFill>
                    <a:srgbClr val="303870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 Bộ TTL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382656" y="1523250"/>
              <a:ext cx="3948408" cy="174247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502"/>
                </a:lnSpc>
                <a:spcBef>
                  <a:spcPct val="0"/>
                </a:spcBef>
              </a:pPr>
              <a:r>
                <a:rPr lang="en-US" b="true" sz="2501">
                  <a:solidFill>
                    <a:srgbClr val="303870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Lưu</a:t>
              </a:r>
              <a:r>
                <a:rPr lang="en-US" b="true" sz="2501">
                  <a:solidFill>
                    <a:srgbClr val="303870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 cache kèm thời gian tự động hết hạn.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259300" y="0"/>
            <a:ext cx="3086100" cy="10287000"/>
            <a:chOff x="0" y="0"/>
            <a:chExt cx="812800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2709333"/>
            </a:xfrm>
            <a:custGeom>
              <a:avLst/>
              <a:gdLst/>
              <a:ahLst/>
              <a:cxnLst/>
              <a:rect r="r" b="b" t="t" l="l"/>
              <a:pathLst>
                <a:path h="2709333" w="812800">
                  <a:moveTo>
                    <a:pt x="90311" y="0"/>
                  </a:moveTo>
                  <a:lnTo>
                    <a:pt x="722489" y="0"/>
                  </a:lnTo>
                  <a:cubicBezTo>
                    <a:pt x="746441" y="0"/>
                    <a:pt x="769412" y="9515"/>
                    <a:pt x="786348" y="26452"/>
                  </a:cubicBezTo>
                  <a:cubicBezTo>
                    <a:pt x="803285" y="43388"/>
                    <a:pt x="812800" y="66359"/>
                    <a:pt x="812800" y="90311"/>
                  </a:cubicBezTo>
                  <a:lnTo>
                    <a:pt x="812800" y="2619022"/>
                  </a:lnTo>
                  <a:cubicBezTo>
                    <a:pt x="812800" y="2642974"/>
                    <a:pt x="803285" y="2665945"/>
                    <a:pt x="786348" y="2682882"/>
                  </a:cubicBezTo>
                  <a:cubicBezTo>
                    <a:pt x="769412" y="2699818"/>
                    <a:pt x="746441" y="2709333"/>
                    <a:pt x="722489" y="2709333"/>
                  </a:cubicBezTo>
                  <a:lnTo>
                    <a:pt x="90311" y="2709333"/>
                  </a:lnTo>
                  <a:cubicBezTo>
                    <a:pt x="40434" y="2709333"/>
                    <a:pt x="0" y="2668900"/>
                    <a:pt x="0" y="2619022"/>
                  </a:cubicBezTo>
                  <a:lnTo>
                    <a:pt x="0" y="90311"/>
                  </a:lnTo>
                  <a:cubicBezTo>
                    <a:pt x="0" y="66359"/>
                    <a:pt x="9515" y="43388"/>
                    <a:pt x="26452" y="26452"/>
                  </a:cubicBezTo>
                  <a:cubicBezTo>
                    <a:pt x="43388" y="9515"/>
                    <a:pt x="66359" y="0"/>
                    <a:pt x="90311" y="0"/>
                  </a:cubicBezTo>
                  <a:close/>
                </a:path>
              </a:pathLst>
            </a:custGeom>
            <a:solidFill>
              <a:srgbClr val="30387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812800" cy="2804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337401" y="5521051"/>
            <a:ext cx="1876990" cy="1398357"/>
          </a:xfrm>
          <a:custGeom>
            <a:avLst/>
            <a:gdLst/>
            <a:ahLst/>
            <a:cxnLst/>
            <a:rect r="r" b="b" t="t" l="l"/>
            <a:pathLst>
              <a:path h="1398357" w="1876990">
                <a:moveTo>
                  <a:pt x="0" y="0"/>
                </a:moveTo>
                <a:lnTo>
                  <a:pt x="1876990" y="0"/>
                </a:lnTo>
                <a:lnTo>
                  <a:pt x="1876990" y="1398358"/>
                </a:lnTo>
                <a:lnTo>
                  <a:pt x="0" y="139835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3170433" y="5360491"/>
            <a:ext cx="3086100" cy="1719478"/>
            <a:chOff x="0" y="0"/>
            <a:chExt cx="812800" cy="45286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452866"/>
            </a:xfrm>
            <a:custGeom>
              <a:avLst/>
              <a:gdLst/>
              <a:ahLst/>
              <a:cxnLst/>
              <a:rect r="r" b="b" t="t" l="l"/>
              <a:pathLst>
                <a:path h="452866" w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324926"/>
                  </a:lnTo>
                  <a:cubicBezTo>
                    <a:pt x="812800" y="395585"/>
                    <a:pt x="755519" y="452866"/>
                    <a:pt x="684859" y="452866"/>
                  </a:cubicBezTo>
                  <a:lnTo>
                    <a:pt x="127941" y="452866"/>
                  </a:lnTo>
                  <a:cubicBezTo>
                    <a:pt x="94009" y="452866"/>
                    <a:pt x="61467" y="439387"/>
                    <a:pt x="37473" y="415394"/>
                  </a:cubicBezTo>
                  <a:cubicBezTo>
                    <a:pt x="13479" y="391400"/>
                    <a:pt x="0" y="358858"/>
                    <a:pt x="0" y="324926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FFC5C5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133350"/>
              <a:ext cx="812800" cy="5862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313"/>
                </a:lnSpc>
              </a:pPr>
            </a:p>
            <a:p>
              <a:pPr algn="ctr">
                <a:lnSpc>
                  <a:spcPts val="4655"/>
                </a:lnSpc>
              </a:pPr>
              <a:r>
                <a:rPr lang="en-US" b="true" sz="2722" spc="149">
                  <a:solidFill>
                    <a:srgbClr val="000000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Load Balancer</a:t>
              </a:r>
            </a:p>
            <a:p>
              <a:pPr algn="ctr">
                <a:lnSpc>
                  <a:spcPts val="362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583740" y="286743"/>
            <a:ext cx="16393604" cy="35248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32"/>
              </a:lnSpc>
            </a:pPr>
            <a:r>
              <a:rPr lang="en-US" sz="7572" b="true">
                <a:solidFill>
                  <a:srgbClr val="303870"/>
                </a:solidFill>
                <a:latin typeface="Agrandir Wide Bold"/>
                <a:ea typeface="Agrandir Wide Bold"/>
                <a:cs typeface="Agrandir Wide Bold"/>
                <a:sym typeface="Agrandir Wide Bold"/>
              </a:rPr>
              <a:t>MÔ HÌNH SESSION STORAGE ĐA MÁY CHỦ</a:t>
            </a:r>
          </a:p>
          <a:p>
            <a:pPr algn="l">
              <a:lnSpc>
                <a:spcPts val="8632"/>
              </a:lnSpc>
            </a:pPr>
          </a:p>
        </p:txBody>
      </p:sp>
      <p:grpSp>
        <p:nvGrpSpPr>
          <p:cNvPr name="Group 10" id="10"/>
          <p:cNvGrpSpPr/>
          <p:nvPr/>
        </p:nvGrpSpPr>
        <p:grpSpPr>
          <a:xfrm rot="0">
            <a:off x="8299411" y="3060680"/>
            <a:ext cx="2444627" cy="1783263"/>
            <a:chOff x="0" y="0"/>
            <a:chExt cx="643852" cy="46966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3852" cy="469666"/>
            </a:xfrm>
            <a:custGeom>
              <a:avLst/>
              <a:gdLst/>
              <a:ahLst/>
              <a:cxnLst/>
              <a:rect r="r" b="b" t="t" l="l"/>
              <a:pathLst>
                <a:path h="469666" w="643852">
                  <a:moveTo>
                    <a:pt x="161513" y="0"/>
                  </a:moveTo>
                  <a:lnTo>
                    <a:pt x="482340" y="0"/>
                  </a:lnTo>
                  <a:cubicBezTo>
                    <a:pt x="571541" y="0"/>
                    <a:pt x="643852" y="72312"/>
                    <a:pt x="643852" y="161513"/>
                  </a:cubicBezTo>
                  <a:lnTo>
                    <a:pt x="643852" y="308153"/>
                  </a:lnTo>
                  <a:cubicBezTo>
                    <a:pt x="643852" y="397354"/>
                    <a:pt x="571541" y="469666"/>
                    <a:pt x="482340" y="469666"/>
                  </a:cubicBezTo>
                  <a:lnTo>
                    <a:pt x="161513" y="469666"/>
                  </a:lnTo>
                  <a:cubicBezTo>
                    <a:pt x="72312" y="469666"/>
                    <a:pt x="0" y="397354"/>
                    <a:pt x="0" y="308153"/>
                  </a:cubicBezTo>
                  <a:lnTo>
                    <a:pt x="0" y="161513"/>
                  </a:lnTo>
                  <a:cubicBezTo>
                    <a:pt x="0" y="72312"/>
                    <a:pt x="72312" y="0"/>
                    <a:pt x="161513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133350"/>
              <a:ext cx="643852" cy="6030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313"/>
                </a:lnSpc>
              </a:pPr>
              <a:r>
                <a:rPr lang="en-US" sz="2522" spc="138">
                  <a:solidFill>
                    <a:srgbClr val="000000"/>
                  </a:solidFill>
                  <a:latin typeface="Nunito"/>
                  <a:ea typeface="Nunito"/>
                  <a:cs typeface="Nunito"/>
                  <a:sym typeface="Nunito"/>
                </a:rPr>
                <a:t>Server A</a:t>
              </a:r>
            </a:p>
            <a:p>
              <a:pPr algn="ctr">
                <a:lnSpc>
                  <a:spcPts val="3287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299411" y="5384578"/>
            <a:ext cx="2444627" cy="1783263"/>
            <a:chOff x="0" y="0"/>
            <a:chExt cx="643852" cy="46966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43852" cy="469666"/>
            </a:xfrm>
            <a:custGeom>
              <a:avLst/>
              <a:gdLst/>
              <a:ahLst/>
              <a:cxnLst/>
              <a:rect r="r" b="b" t="t" l="l"/>
              <a:pathLst>
                <a:path h="469666" w="643852">
                  <a:moveTo>
                    <a:pt x="161513" y="0"/>
                  </a:moveTo>
                  <a:lnTo>
                    <a:pt x="482340" y="0"/>
                  </a:lnTo>
                  <a:cubicBezTo>
                    <a:pt x="571541" y="0"/>
                    <a:pt x="643852" y="72312"/>
                    <a:pt x="643852" y="161513"/>
                  </a:cubicBezTo>
                  <a:lnTo>
                    <a:pt x="643852" y="308153"/>
                  </a:lnTo>
                  <a:cubicBezTo>
                    <a:pt x="643852" y="397354"/>
                    <a:pt x="571541" y="469666"/>
                    <a:pt x="482340" y="469666"/>
                  </a:cubicBezTo>
                  <a:lnTo>
                    <a:pt x="161513" y="469666"/>
                  </a:lnTo>
                  <a:cubicBezTo>
                    <a:pt x="72312" y="469666"/>
                    <a:pt x="0" y="397354"/>
                    <a:pt x="0" y="308153"/>
                  </a:cubicBezTo>
                  <a:lnTo>
                    <a:pt x="0" y="161513"/>
                  </a:lnTo>
                  <a:cubicBezTo>
                    <a:pt x="0" y="72312"/>
                    <a:pt x="72312" y="0"/>
                    <a:pt x="161513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114300"/>
              <a:ext cx="643852" cy="58396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142"/>
                </a:lnSpc>
              </a:pPr>
              <a:r>
                <a:rPr lang="en-US" sz="2422" spc="133">
                  <a:solidFill>
                    <a:srgbClr val="000000"/>
                  </a:solidFill>
                  <a:latin typeface="Nunito"/>
                  <a:ea typeface="Nunito"/>
                  <a:cs typeface="Nunito"/>
                  <a:sym typeface="Nunito"/>
                </a:rPr>
                <a:t>Server B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299411" y="8128543"/>
            <a:ext cx="2444627" cy="1783263"/>
            <a:chOff x="0" y="0"/>
            <a:chExt cx="643852" cy="46966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43852" cy="469666"/>
            </a:xfrm>
            <a:custGeom>
              <a:avLst/>
              <a:gdLst/>
              <a:ahLst/>
              <a:cxnLst/>
              <a:rect r="r" b="b" t="t" l="l"/>
              <a:pathLst>
                <a:path h="469666" w="643852">
                  <a:moveTo>
                    <a:pt x="161513" y="0"/>
                  </a:moveTo>
                  <a:lnTo>
                    <a:pt x="482340" y="0"/>
                  </a:lnTo>
                  <a:cubicBezTo>
                    <a:pt x="571541" y="0"/>
                    <a:pt x="643852" y="72312"/>
                    <a:pt x="643852" y="161513"/>
                  </a:cubicBezTo>
                  <a:lnTo>
                    <a:pt x="643852" y="308153"/>
                  </a:lnTo>
                  <a:cubicBezTo>
                    <a:pt x="643852" y="397354"/>
                    <a:pt x="571541" y="469666"/>
                    <a:pt x="482340" y="469666"/>
                  </a:cubicBezTo>
                  <a:lnTo>
                    <a:pt x="161513" y="469666"/>
                  </a:lnTo>
                  <a:cubicBezTo>
                    <a:pt x="72312" y="469666"/>
                    <a:pt x="0" y="397354"/>
                    <a:pt x="0" y="308153"/>
                  </a:cubicBezTo>
                  <a:lnTo>
                    <a:pt x="0" y="161513"/>
                  </a:lnTo>
                  <a:cubicBezTo>
                    <a:pt x="0" y="72312"/>
                    <a:pt x="72312" y="0"/>
                    <a:pt x="161513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114300"/>
              <a:ext cx="643852" cy="58396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142"/>
                </a:lnSpc>
              </a:pPr>
              <a:r>
                <a:rPr lang="en-US" sz="2422" spc="133">
                  <a:solidFill>
                    <a:srgbClr val="000000"/>
                  </a:solidFill>
                  <a:latin typeface="Nunito"/>
                  <a:ea typeface="Nunito"/>
                  <a:cs typeface="Nunito"/>
                  <a:sym typeface="Nunito"/>
                </a:rPr>
                <a:t>Server C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3386361" y="4679845"/>
            <a:ext cx="3590983" cy="3192729"/>
            <a:chOff x="0" y="0"/>
            <a:chExt cx="945773" cy="840883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45773" cy="840883"/>
            </a:xfrm>
            <a:custGeom>
              <a:avLst/>
              <a:gdLst/>
              <a:ahLst/>
              <a:cxnLst/>
              <a:rect r="r" b="b" t="t" l="l"/>
              <a:pathLst>
                <a:path h="840883" w="945773">
                  <a:moveTo>
                    <a:pt x="109953" y="0"/>
                  </a:moveTo>
                  <a:lnTo>
                    <a:pt x="835821" y="0"/>
                  </a:lnTo>
                  <a:cubicBezTo>
                    <a:pt x="896546" y="0"/>
                    <a:pt x="945773" y="49227"/>
                    <a:pt x="945773" y="109953"/>
                  </a:cubicBezTo>
                  <a:lnTo>
                    <a:pt x="945773" y="730931"/>
                  </a:lnTo>
                  <a:cubicBezTo>
                    <a:pt x="945773" y="791656"/>
                    <a:pt x="896546" y="840883"/>
                    <a:pt x="835821" y="840883"/>
                  </a:cubicBezTo>
                  <a:lnTo>
                    <a:pt x="109953" y="840883"/>
                  </a:lnTo>
                  <a:cubicBezTo>
                    <a:pt x="49227" y="840883"/>
                    <a:pt x="0" y="791656"/>
                    <a:pt x="0" y="730931"/>
                  </a:cubicBezTo>
                  <a:lnTo>
                    <a:pt x="0" y="109953"/>
                  </a:lnTo>
                  <a:cubicBezTo>
                    <a:pt x="0" y="49227"/>
                    <a:pt x="49227" y="0"/>
                    <a:pt x="109953" y="0"/>
                  </a:cubicBezTo>
                  <a:close/>
                </a:path>
              </a:pathLst>
            </a:custGeom>
            <a:solidFill>
              <a:srgbClr val="F0D8CB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142875"/>
              <a:ext cx="945773" cy="9837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168"/>
                </a:lnSpc>
              </a:pPr>
              <a:r>
                <a:rPr lang="en-US" b="true" sz="3022" spc="166">
                  <a:solidFill>
                    <a:srgbClr val="F68D55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Redis </a:t>
              </a:r>
            </a:p>
            <a:p>
              <a:pPr algn="ctr">
                <a:lnSpc>
                  <a:spcPts val="5168"/>
                </a:lnSpc>
              </a:pPr>
              <a:r>
                <a:rPr lang="en-US" b="true" sz="3022" spc="166">
                  <a:solidFill>
                    <a:srgbClr val="F68D55"/>
                  </a:solidFill>
                  <a:latin typeface="Nunito Bold"/>
                  <a:ea typeface="Nunito Bold"/>
                  <a:cs typeface="Nunito Bold"/>
                  <a:sym typeface="Nunito Bold"/>
                </a:rPr>
                <a:t>Session Cluster</a:t>
              </a:r>
            </a:p>
          </p:txBody>
        </p:sp>
      </p:grpSp>
      <p:sp>
        <p:nvSpPr>
          <p:cNvPr name="AutoShape 22" id="22"/>
          <p:cNvSpPr/>
          <p:nvPr/>
        </p:nvSpPr>
        <p:spPr>
          <a:xfrm flipV="true">
            <a:off x="2214391" y="6220230"/>
            <a:ext cx="956042" cy="0"/>
          </a:xfrm>
          <a:prstGeom prst="line">
            <a:avLst/>
          </a:prstGeom>
          <a:ln cap="flat" w="8572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3" id="23"/>
          <p:cNvSpPr/>
          <p:nvPr/>
        </p:nvSpPr>
        <p:spPr>
          <a:xfrm flipV="true">
            <a:off x="6256533" y="3952312"/>
            <a:ext cx="2042878" cy="2267918"/>
          </a:xfrm>
          <a:prstGeom prst="line">
            <a:avLst/>
          </a:prstGeom>
          <a:ln cap="flat" w="8572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4" id="24"/>
          <p:cNvSpPr/>
          <p:nvPr/>
        </p:nvSpPr>
        <p:spPr>
          <a:xfrm>
            <a:off x="6256533" y="6220230"/>
            <a:ext cx="2042878" cy="55979"/>
          </a:xfrm>
          <a:prstGeom prst="line">
            <a:avLst/>
          </a:prstGeom>
          <a:ln cap="flat" w="8572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5" id="25"/>
          <p:cNvSpPr/>
          <p:nvPr/>
        </p:nvSpPr>
        <p:spPr>
          <a:xfrm>
            <a:off x="6256533" y="6220230"/>
            <a:ext cx="2042878" cy="2799944"/>
          </a:xfrm>
          <a:prstGeom prst="line">
            <a:avLst/>
          </a:prstGeom>
          <a:ln cap="flat" w="8572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6" id="26"/>
          <p:cNvSpPr/>
          <p:nvPr/>
        </p:nvSpPr>
        <p:spPr>
          <a:xfrm>
            <a:off x="10744037" y="6276209"/>
            <a:ext cx="2642323" cy="0"/>
          </a:xfrm>
          <a:prstGeom prst="line">
            <a:avLst/>
          </a:prstGeom>
          <a:ln cap="flat" w="85725">
            <a:solidFill>
              <a:srgbClr val="000000"/>
            </a:solidFill>
            <a:prstDash val="lgDash"/>
            <a:headEnd type="none" len="sm" w="sm"/>
            <a:tailEnd type="arrow" len="sm" w="med"/>
          </a:ln>
        </p:spPr>
      </p:sp>
      <p:sp>
        <p:nvSpPr>
          <p:cNvPr name="AutoShape 27" id="27"/>
          <p:cNvSpPr/>
          <p:nvPr/>
        </p:nvSpPr>
        <p:spPr>
          <a:xfrm flipV="true">
            <a:off x="10744037" y="6276209"/>
            <a:ext cx="2114455" cy="2743965"/>
          </a:xfrm>
          <a:prstGeom prst="line">
            <a:avLst/>
          </a:prstGeom>
          <a:ln cap="flat" w="104775">
            <a:solidFill>
              <a:srgbClr val="000000"/>
            </a:solidFill>
            <a:prstDash val="lgDash"/>
            <a:headEnd type="none" len="sm" w="sm"/>
            <a:tailEnd type="none" len="sm" w="sm"/>
          </a:ln>
        </p:spPr>
      </p:sp>
      <p:sp>
        <p:nvSpPr>
          <p:cNvPr name="AutoShape 28" id="28"/>
          <p:cNvSpPr/>
          <p:nvPr/>
        </p:nvSpPr>
        <p:spPr>
          <a:xfrm>
            <a:off x="10744037" y="3952312"/>
            <a:ext cx="2114455" cy="2323898"/>
          </a:xfrm>
          <a:prstGeom prst="line">
            <a:avLst/>
          </a:prstGeom>
          <a:ln cap="flat" w="104775">
            <a:solidFill>
              <a:srgbClr val="000000"/>
            </a:solidFill>
            <a:prstDash val="lgDash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265471" y="1544830"/>
          <a:ext cx="5657850" cy="3771900"/>
        </p:xfrm>
        <a:graphic>
          <a:graphicData uri="http://schemas.openxmlformats.org/presentationml/2006/ole">
            <p:oleObj imgW="6781800" imgH="49022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4380882" y="82485"/>
            <a:ext cx="16230600" cy="946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84"/>
              </a:lnSpc>
            </a:pPr>
            <a:r>
              <a:rPr lang="en-US" sz="5425" b="true">
                <a:solidFill>
                  <a:srgbClr val="303870"/>
                </a:solidFill>
                <a:latin typeface="Agrandir Wide Bold"/>
                <a:ea typeface="Agrandir Wide Bold"/>
                <a:cs typeface="Agrandir Wide Bold"/>
                <a:sym typeface="Agrandir Wide Bold"/>
              </a:rPr>
              <a:t>REDIS VS MEMCACHED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4ED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259300" y="0"/>
            <a:ext cx="3086100" cy="10287000"/>
            <a:chOff x="0" y="0"/>
            <a:chExt cx="812800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2709333"/>
            </a:xfrm>
            <a:custGeom>
              <a:avLst/>
              <a:gdLst/>
              <a:ahLst/>
              <a:cxnLst/>
              <a:rect r="r" b="b" t="t" l="l"/>
              <a:pathLst>
                <a:path h="2709333" w="812800">
                  <a:moveTo>
                    <a:pt x="90311" y="0"/>
                  </a:moveTo>
                  <a:lnTo>
                    <a:pt x="722489" y="0"/>
                  </a:lnTo>
                  <a:cubicBezTo>
                    <a:pt x="746441" y="0"/>
                    <a:pt x="769412" y="9515"/>
                    <a:pt x="786348" y="26452"/>
                  </a:cubicBezTo>
                  <a:cubicBezTo>
                    <a:pt x="803285" y="43388"/>
                    <a:pt x="812800" y="66359"/>
                    <a:pt x="812800" y="90311"/>
                  </a:cubicBezTo>
                  <a:lnTo>
                    <a:pt x="812800" y="2619022"/>
                  </a:lnTo>
                  <a:cubicBezTo>
                    <a:pt x="812800" y="2642974"/>
                    <a:pt x="803285" y="2665945"/>
                    <a:pt x="786348" y="2682882"/>
                  </a:cubicBezTo>
                  <a:cubicBezTo>
                    <a:pt x="769412" y="2699818"/>
                    <a:pt x="746441" y="2709333"/>
                    <a:pt x="722489" y="2709333"/>
                  </a:cubicBezTo>
                  <a:lnTo>
                    <a:pt x="90311" y="2709333"/>
                  </a:lnTo>
                  <a:cubicBezTo>
                    <a:pt x="40434" y="2709333"/>
                    <a:pt x="0" y="2668900"/>
                    <a:pt x="0" y="2619022"/>
                  </a:cubicBezTo>
                  <a:lnTo>
                    <a:pt x="0" y="90311"/>
                  </a:lnTo>
                  <a:cubicBezTo>
                    <a:pt x="0" y="66359"/>
                    <a:pt x="9515" y="43388"/>
                    <a:pt x="26452" y="26452"/>
                  </a:cubicBezTo>
                  <a:cubicBezTo>
                    <a:pt x="43388" y="9515"/>
                    <a:pt x="66359" y="0"/>
                    <a:pt x="90311" y="0"/>
                  </a:cubicBezTo>
                  <a:close/>
                </a:path>
              </a:pathLst>
            </a:custGeom>
            <a:solidFill>
              <a:srgbClr val="30387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812800" cy="2804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2524103" y="2469880"/>
            <a:ext cx="12117745" cy="21448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96"/>
              </a:lnSpc>
            </a:pPr>
            <a:r>
              <a:rPr lang="en-US" sz="12277" b="true">
                <a:solidFill>
                  <a:srgbClr val="303870"/>
                </a:solidFill>
                <a:latin typeface="Agrandir Wide Bold"/>
                <a:ea typeface="Agrandir Wide Bold"/>
                <a:cs typeface="Agrandir Wide Bold"/>
                <a:sym typeface="Agrandir Wide Bold"/>
              </a:rPr>
              <a:t>THANK YOU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5241414" y="4863370"/>
            <a:ext cx="5681930" cy="994857"/>
            <a:chOff x="0" y="0"/>
            <a:chExt cx="1260755" cy="22074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260755" cy="220747"/>
            </a:xfrm>
            <a:custGeom>
              <a:avLst/>
              <a:gdLst/>
              <a:ahLst/>
              <a:cxnLst/>
              <a:rect r="r" b="b" t="t" l="l"/>
              <a:pathLst>
                <a:path h="220747" w="1260755">
                  <a:moveTo>
                    <a:pt x="110374" y="0"/>
                  </a:moveTo>
                  <a:lnTo>
                    <a:pt x="1150381" y="0"/>
                  </a:lnTo>
                  <a:cubicBezTo>
                    <a:pt x="1179654" y="0"/>
                    <a:pt x="1207728" y="11629"/>
                    <a:pt x="1228428" y="32328"/>
                  </a:cubicBezTo>
                  <a:cubicBezTo>
                    <a:pt x="1249127" y="53027"/>
                    <a:pt x="1260755" y="81101"/>
                    <a:pt x="1260755" y="110374"/>
                  </a:cubicBezTo>
                  <a:lnTo>
                    <a:pt x="1260755" y="110374"/>
                  </a:lnTo>
                  <a:cubicBezTo>
                    <a:pt x="1260755" y="139647"/>
                    <a:pt x="1249127" y="167721"/>
                    <a:pt x="1228428" y="188420"/>
                  </a:cubicBezTo>
                  <a:cubicBezTo>
                    <a:pt x="1207728" y="209119"/>
                    <a:pt x="1179654" y="220747"/>
                    <a:pt x="1150381" y="220747"/>
                  </a:cubicBezTo>
                  <a:lnTo>
                    <a:pt x="110374" y="220747"/>
                  </a:lnTo>
                  <a:cubicBezTo>
                    <a:pt x="81101" y="220747"/>
                    <a:pt x="53027" y="209119"/>
                    <a:pt x="32328" y="188420"/>
                  </a:cubicBezTo>
                  <a:cubicBezTo>
                    <a:pt x="11629" y="167721"/>
                    <a:pt x="0" y="139647"/>
                    <a:pt x="0" y="110374"/>
                  </a:cubicBezTo>
                  <a:lnTo>
                    <a:pt x="0" y="110374"/>
                  </a:lnTo>
                  <a:cubicBezTo>
                    <a:pt x="0" y="81101"/>
                    <a:pt x="11629" y="53027"/>
                    <a:pt x="32328" y="32328"/>
                  </a:cubicBezTo>
                  <a:cubicBezTo>
                    <a:pt x="53027" y="11629"/>
                    <a:pt x="81101" y="0"/>
                    <a:pt x="110374" y="0"/>
                  </a:cubicBezTo>
                  <a:close/>
                </a:path>
              </a:pathLst>
            </a:custGeom>
            <a:ln w="38100" cap="rnd">
              <a:solidFill>
                <a:srgbClr val="30387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95250"/>
              <a:ext cx="1260755" cy="3159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87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5598318" y="4993129"/>
            <a:ext cx="4968122" cy="6591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68"/>
              </a:lnSpc>
            </a:pPr>
            <a:r>
              <a:rPr lang="en-US" sz="3834">
                <a:solidFill>
                  <a:srgbClr val="303870"/>
                </a:solidFill>
                <a:latin typeface="Nunito"/>
                <a:ea typeface="Nunito"/>
                <a:cs typeface="Nunito"/>
                <a:sym typeface="Nunito"/>
              </a:rPr>
              <a:t>Thanks For Watching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7288" y="7554207"/>
            <a:ext cx="8077632" cy="2508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23"/>
              </a:lnSpc>
            </a:pPr>
            <a:r>
              <a:rPr lang="en-US" sz="2873">
                <a:solidFill>
                  <a:srgbClr val="303870"/>
                </a:solidFill>
                <a:latin typeface="Noto Sans"/>
                <a:ea typeface="Noto Sans"/>
                <a:cs typeface="Noto Sans"/>
                <a:sym typeface="Noto Sans"/>
              </a:rPr>
              <a:t>Nếu còn gì thắc mắc sau buổi seminar các bạn có thể liên hệ chúng mình:</a:t>
            </a:r>
          </a:p>
          <a:p>
            <a:pPr algn="ctr">
              <a:lnSpc>
                <a:spcPts val="4023"/>
              </a:lnSpc>
            </a:pPr>
            <a:r>
              <a:rPr lang="en-US" sz="2873">
                <a:solidFill>
                  <a:srgbClr val="303870"/>
                </a:solidFill>
                <a:latin typeface="Noto Sans"/>
                <a:ea typeface="Noto Sans"/>
                <a:cs typeface="Noto Sans"/>
                <a:sym typeface="Noto Sans"/>
              </a:rPr>
              <a:t>524k0033</a:t>
            </a:r>
            <a:r>
              <a:rPr lang="en-US" sz="2873">
                <a:solidFill>
                  <a:srgbClr val="303870"/>
                </a:solidFill>
                <a:latin typeface="Noto Sans"/>
                <a:ea typeface="Noto Sans"/>
                <a:cs typeface="Noto Sans"/>
                <a:sym typeface="Noto Sans"/>
              </a:rPr>
              <a:t>@student.tdtu.edu.vn</a:t>
            </a:r>
          </a:p>
          <a:p>
            <a:pPr algn="ctr">
              <a:lnSpc>
                <a:spcPts val="4023"/>
              </a:lnSpc>
            </a:pPr>
            <a:r>
              <a:rPr lang="en-US" sz="2873">
                <a:solidFill>
                  <a:srgbClr val="303870"/>
                </a:solidFill>
                <a:latin typeface="Noto Sans"/>
                <a:ea typeface="Noto Sans"/>
                <a:cs typeface="Noto Sans"/>
                <a:sym typeface="Noto Sans"/>
              </a:rPr>
              <a:t>524k0032@student.tdtu.edu.vn 524v0007@student.tdtu.edu.vn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DAHXJPnrGy8</dc:identifier>
  <dcterms:modified xsi:type="dcterms:W3CDTF">2011-08-01T06:04:30Z</dcterms:modified>
  <cp:revision>1</cp:revision>
  <dc:title>Seminar SOA _ REDIS</dc:title>
</cp:coreProperties>
</file>