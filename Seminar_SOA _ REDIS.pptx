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grandir Wide Bold" charset="1" panose="00000805000000000000"/>
      <p:regular r:id="rId15"/>
    </p:embeddedFont>
    <p:embeddedFont>
      <p:font typeface="Nunito" charset="1" panose="00000000000000000000"/>
      <p:regular r:id="rId16"/>
    </p:embeddedFont>
    <p:embeddedFont>
      <p:font typeface="Nunito Semi-Bold" charset="1" panose="00000000000000000000"/>
      <p:regular r:id="rId17"/>
    </p:embeddedFont>
    <p:embeddedFont>
      <p:font typeface="Roboto Bold" charset="1" panose="02000000000000000000"/>
      <p:regular r:id="rId18"/>
    </p:embeddedFont>
    <p:embeddedFont>
      <p:font typeface="Nunito Bold" charset="1" panose="00000000000000000000"/>
      <p:regular r:id="rId19"/>
    </p:embeddedFont>
    <p:embeddedFont>
      <p:font typeface="Noto Sans" charset="1" panose="020B050204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13826" y="2462493"/>
            <a:ext cx="7039659" cy="273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37"/>
              </a:lnSpc>
            </a:pPr>
            <a:r>
              <a:rPr lang="en-US" sz="1555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REDIS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82340" y="5194003"/>
            <a:ext cx="11702631" cy="838151"/>
            <a:chOff x="0" y="0"/>
            <a:chExt cx="3082175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2174" cy="220747"/>
            </a:xfrm>
            <a:custGeom>
              <a:avLst/>
              <a:gdLst/>
              <a:ahLst/>
              <a:cxnLst/>
              <a:rect r="r" b="b" t="t" l="l"/>
              <a:pathLst>
                <a:path h="220747" w="3082174">
                  <a:moveTo>
                    <a:pt x="66155" y="0"/>
                  </a:moveTo>
                  <a:lnTo>
                    <a:pt x="3016019" y="0"/>
                  </a:lnTo>
                  <a:cubicBezTo>
                    <a:pt x="3052556" y="0"/>
                    <a:pt x="3082174" y="29619"/>
                    <a:pt x="3082174" y="66155"/>
                  </a:cubicBezTo>
                  <a:lnTo>
                    <a:pt x="3082174" y="154592"/>
                  </a:lnTo>
                  <a:cubicBezTo>
                    <a:pt x="3082174" y="172138"/>
                    <a:pt x="3075205" y="188964"/>
                    <a:pt x="3062798" y="201371"/>
                  </a:cubicBezTo>
                  <a:cubicBezTo>
                    <a:pt x="3050392" y="213778"/>
                    <a:pt x="3033565" y="220747"/>
                    <a:pt x="3016019" y="220747"/>
                  </a:cubicBezTo>
                  <a:lnTo>
                    <a:pt x="66155" y="220747"/>
                  </a:lnTo>
                  <a:cubicBezTo>
                    <a:pt x="29619" y="220747"/>
                    <a:pt x="0" y="191129"/>
                    <a:pt x="0" y="154592"/>
                  </a:cubicBezTo>
                  <a:lnTo>
                    <a:pt x="0" y="66155"/>
                  </a:lnTo>
                  <a:cubicBezTo>
                    <a:pt x="0" y="29619"/>
                    <a:pt x="29619" y="0"/>
                    <a:pt x="66155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082175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82340" y="5300845"/>
            <a:ext cx="10749435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Tối Ưu Hiệu Năng Hệ Thống Phân Tán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7779" y="6905269"/>
            <a:ext cx="3910562" cy="55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 b="true">
                <a:solidFill>
                  <a:srgbClr val="30387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In-Memory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78375" y="6905269"/>
            <a:ext cx="3910562" cy="55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 b="true">
                <a:solidFill>
                  <a:srgbClr val="30387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Độ Trễ Dưới 1ms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8970" y="6905269"/>
            <a:ext cx="3910562" cy="55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 b="true">
                <a:solidFill>
                  <a:srgbClr val="30387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Triển Khai 1-Chạm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38" r="0" b="-756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3817" y="-135218"/>
            <a:ext cx="18478504" cy="10557436"/>
            <a:chOff x="0" y="0"/>
            <a:chExt cx="4866766" cy="2780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66767" cy="2780559"/>
            </a:xfrm>
            <a:custGeom>
              <a:avLst/>
              <a:gdLst/>
              <a:ahLst/>
              <a:cxnLst/>
              <a:rect r="r" b="b" t="t" l="l"/>
              <a:pathLst>
                <a:path h="2780559" w="4866767">
                  <a:moveTo>
                    <a:pt x="21367" y="0"/>
                  </a:moveTo>
                  <a:lnTo>
                    <a:pt x="4845399" y="0"/>
                  </a:lnTo>
                  <a:cubicBezTo>
                    <a:pt x="4851066" y="0"/>
                    <a:pt x="4856501" y="2251"/>
                    <a:pt x="4860508" y="6258"/>
                  </a:cubicBezTo>
                  <a:cubicBezTo>
                    <a:pt x="4864515" y="10266"/>
                    <a:pt x="4866767" y="15700"/>
                    <a:pt x="4866767" y="21367"/>
                  </a:cubicBezTo>
                  <a:lnTo>
                    <a:pt x="4866767" y="2759192"/>
                  </a:lnTo>
                  <a:cubicBezTo>
                    <a:pt x="4866767" y="2764859"/>
                    <a:pt x="4864515" y="2770294"/>
                    <a:pt x="4860508" y="2774301"/>
                  </a:cubicBezTo>
                  <a:cubicBezTo>
                    <a:pt x="4856501" y="2778308"/>
                    <a:pt x="4851066" y="2780559"/>
                    <a:pt x="4845399" y="2780559"/>
                  </a:cubicBezTo>
                  <a:lnTo>
                    <a:pt x="21367" y="2780559"/>
                  </a:lnTo>
                  <a:cubicBezTo>
                    <a:pt x="15700" y="2780559"/>
                    <a:pt x="10266" y="2778308"/>
                    <a:pt x="6258" y="2774301"/>
                  </a:cubicBezTo>
                  <a:cubicBezTo>
                    <a:pt x="2251" y="2770294"/>
                    <a:pt x="0" y="2764859"/>
                    <a:pt x="0" y="2759192"/>
                  </a:cubicBezTo>
                  <a:lnTo>
                    <a:pt x="0" y="21367"/>
                  </a:lnTo>
                  <a:cubicBezTo>
                    <a:pt x="0" y="15700"/>
                    <a:pt x="2251" y="10266"/>
                    <a:pt x="6258" y="6258"/>
                  </a:cubicBezTo>
                  <a:cubicBezTo>
                    <a:pt x="10266" y="2251"/>
                    <a:pt x="15700" y="0"/>
                    <a:pt x="21367" y="0"/>
                  </a:cubicBezTo>
                  <a:close/>
                </a:path>
              </a:pathLst>
            </a:custGeom>
            <a:solidFill>
              <a:srgbClr val="F4ED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66766" cy="2828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1691289" y="2879164"/>
            <a:ext cx="2219338" cy="3899735"/>
            <a:chOff x="0" y="0"/>
            <a:chExt cx="577069" cy="10140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7069" cy="1014004"/>
            </a:xfrm>
            <a:custGeom>
              <a:avLst/>
              <a:gdLst/>
              <a:ahLst/>
              <a:cxnLst/>
              <a:rect r="r" b="b" t="t" l="l"/>
              <a:pathLst>
                <a:path h="1014004" w="577069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472D3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2027977" y="1952194"/>
            <a:ext cx="1295402" cy="4458273"/>
            <a:chOff x="0" y="0"/>
            <a:chExt cx="368024" cy="12665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8024" cy="1266597"/>
            </a:xfrm>
            <a:custGeom>
              <a:avLst/>
              <a:gdLst/>
              <a:ahLst/>
              <a:cxnLst/>
              <a:rect r="r" b="b" t="t" l="l"/>
              <a:pathLst>
                <a:path h="1266597" w="368024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0597248" y="4725171"/>
            <a:ext cx="1460832" cy="1337694"/>
            <a:chOff x="0" y="0"/>
            <a:chExt cx="415023" cy="380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5023" cy="380039"/>
            </a:xfrm>
            <a:custGeom>
              <a:avLst/>
              <a:gdLst/>
              <a:ahLst/>
              <a:cxnLst/>
              <a:rect r="r" b="b" t="t" l="l"/>
              <a:pathLst>
                <a:path h="380039" w="415023">
                  <a:moveTo>
                    <a:pt x="0" y="0"/>
                  </a:moveTo>
                  <a:lnTo>
                    <a:pt x="415023" y="0"/>
                  </a:lnTo>
                  <a:lnTo>
                    <a:pt x="415023" y="380039"/>
                  </a:lnTo>
                  <a:lnTo>
                    <a:pt x="0" y="38003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15023" cy="42766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554266" y="2735000"/>
            <a:ext cx="2142271" cy="214227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2D3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824662" y="3005395"/>
            <a:ext cx="1988820" cy="1988820"/>
          </a:xfrm>
          <a:custGeom>
            <a:avLst/>
            <a:gdLst/>
            <a:ahLst/>
            <a:cxnLst/>
            <a:rect r="r" b="b" t="t" l="l"/>
            <a:pathLst>
              <a:path h="1988820" w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-5400000">
            <a:off x="13824662" y="3005395"/>
            <a:ext cx="1601481" cy="16014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45781" lIns="45781" bIns="45781" rIns="45781"/>
            <a:lstStyle/>
            <a:p>
              <a:pPr algn="ctr">
                <a:lnSpc>
                  <a:spcPts val="174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8940868" y="4831733"/>
            <a:ext cx="2219338" cy="3899735"/>
            <a:chOff x="0" y="0"/>
            <a:chExt cx="577069" cy="10140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7069" cy="1014004"/>
            </a:xfrm>
            <a:custGeom>
              <a:avLst/>
              <a:gdLst/>
              <a:ahLst/>
              <a:cxnLst/>
              <a:rect r="r" b="b" t="t" l="l"/>
              <a:pathLst>
                <a:path h="1014004" w="577069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723D4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anchor="ctr" rtlCol="false" tIns="60551" lIns="60551" bIns="60551" rIns="6055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5400000">
            <a:off x="9394908" y="5399475"/>
            <a:ext cx="1295402" cy="4458273"/>
            <a:chOff x="0" y="0"/>
            <a:chExt cx="368024" cy="12665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8024" cy="1266597"/>
            </a:xfrm>
            <a:custGeom>
              <a:avLst/>
              <a:gdLst/>
              <a:ahLst/>
              <a:cxnLst/>
              <a:rect r="r" b="b" t="t" l="l"/>
              <a:pathLst>
                <a:path h="1266597" w="368024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anchor="ctr" rtlCol="false" tIns="60551" lIns="60551" bIns="60551" rIns="6055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7756873" y="5549255"/>
            <a:ext cx="1494713" cy="1368598"/>
            <a:chOff x="0" y="0"/>
            <a:chExt cx="424649" cy="3888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4648" cy="388819"/>
            </a:xfrm>
            <a:custGeom>
              <a:avLst/>
              <a:gdLst/>
              <a:ahLst/>
              <a:cxnLst/>
              <a:rect r="r" b="b" t="t" l="l"/>
              <a:pathLst>
                <a:path h="388819" w="424648">
                  <a:moveTo>
                    <a:pt x="0" y="0"/>
                  </a:moveTo>
                  <a:lnTo>
                    <a:pt x="424648" y="0"/>
                  </a:lnTo>
                  <a:lnTo>
                    <a:pt x="424648" y="388819"/>
                  </a:lnTo>
                  <a:lnTo>
                    <a:pt x="0" y="38881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24649" cy="436444"/>
            </a:xfrm>
            <a:prstGeom prst="rect">
              <a:avLst/>
            </a:prstGeom>
          </p:spPr>
          <p:txBody>
            <a:bodyPr anchor="ctr" rtlCol="false" tIns="60551" lIns="60551" bIns="60551" rIns="6055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29269" y="6557476"/>
            <a:ext cx="2142271" cy="214227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D46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1199664" y="6827871"/>
            <a:ext cx="1988820" cy="1988820"/>
          </a:xfrm>
          <a:custGeom>
            <a:avLst/>
            <a:gdLst/>
            <a:ahLst/>
            <a:cxnLst/>
            <a:rect r="r" b="b" t="t" l="l"/>
            <a:pathLst>
              <a:path h="1988820" w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5" id="35"/>
          <p:cNvGrpSpPr/>
          <p:nvPr/>
        </p:nvGrpSpPr>
        <p:grpSpPr>
          <a:xfrm rot="-5400000">
            <a:off x="11199664" y="6827871"/>
            <a:ext cx="1601481" cy="160148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45781" lIns="45781" bIns="45781" rIns="45781"/>
            <a:lstStyle/>
            <a:p>
              <a:pPr algn="ctr">
                <a:lnSpc>
                  <a:spcPts val="1743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6094157" y="2879164"/>
            <a:ext cx="2219338" cy="3899735"/>
            <a:chOff x="0" y="0"/>
            <a:chExt cx="577069" cy="10140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7069" cy="1014004"/>
            </a:xfrm>
            <a:custGeom>
              <a:avLst/>
              <a:gdLst/>
              <a:ahLst/>
              <a:cxnLst/>
              <a:rect r="r" b="b" t="t" l="l"/>
              <a:pathLst>
                <a:path h="1014004" w="577069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E26D5C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5400000">
            <a:off x="6430845" y="1952194"/>
            <a:ext cx="1295402" cy="4458273"/>
            <a:chOff x="0" y="0"/>
            <a:chExt cx="368024" cy="12665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8024" cy="1266597"/>
            </a:xfrm>
            <a:custGeom>
              <a:avLst/>
              <a:gdLst/>
              <a:ahLst/>
              <a:cxnLst/>
              <a:rect r="r" b="b" t="t" l="l"/>
              <a:pathLst>
                <a:path h="1266597" w="368024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5000116" y="4725171"/>
            <a:ext cx="1460832" cy="1337694"/>
            <a:chOff x="0" y="0"/>
            <a:chExt cx="415023" cy="380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5023" cy="380039"/>
            </a:xfrm>
            <a:custGeom>
              <a:avLst/>
              <a:gdLst/>
              <a:ahLst/>
              <a:cxnLst/>
              <a:rect r="r" b="b" t="t" l="l"/>
              <a:pathLst>
                <a:path h="380039" w="415023">
                  <a:moveTo>
                    <a:pt x="0" y="0"/>
                  </a:moveTo>
                  <a:lnTo>
                    <a:pt x="415023" y="0"/>
                  </a:lnTo>
                  <a:lnTo>
                    <a:pt x="415023" y="380039"/>
                  </a:lnTo>
                  <a:lnTo>
                    <a:pt x="0" y="38003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15023" cy="42766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57135" y="2735000"/>
            <a:ext cx="2142271" cy="214227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6D5C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8227530" y="3005395"/>
            <a:ext cx="1988820" cy="1988820"/>
          </a:xfrm>
          <a:custGeom>
            <a:avLst/>
            <a:gdLst/>
            <a:ahLst/>
            <a:cxnLst/>
            <a:rect r="r" b="b" t="t" l="l"/>
            <a:pathLst>
              <a:path h="1988820" w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1" id="51"/>
          <p:cNvGrpSpPr/>
          <p:nvPr/>
        </p:nvGrpSpPr>
        <p:grpSpPr>
          <a:xfrm rot="-5400000">
            <a:off x="8227530" y="3005395"/>
            <a:ext cx="1601481" cy="160148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45781" lIns="45781" bIns="45781" rIns="45781"/>
            <a:lstStyle/>
            <a:p>
              <a:pPr algn="ctr">
                <a:lnSpc>
                  <a:spcPts val="1743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5400000">
            <a:off x="3347771" y="4831733"/>
            <a:ext cx="2219338" cy="3899735"/>
            <a:chOff x="0" y="0"/>
            <a:chExt cx="577069" cy="10140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7069" cy="1014004"/>
            </a:xfrm>
            <a:custGeom>
              <a:avLst/>
              <a:gdLst/>
              <a:ahLst/>
              <a:cxnLst/>
              <a:rect r="r" b="b" t="t" l="l"/>
              <a:pathLst>
                <a:path h="1014004" w="577069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836096"/>
                  </a:lnTo>
                  <a:cubicBezTo>
                    <a:pt x="577069" y="934352"/>
                    <a:pt x="497417" y="1014004"/>
                    <a:pt x="399161" y="1014004"/>
                  </a:cubicBezTo>
                  <a:lnTo>
                    <a:pt x="177908" y="1014004"/>
                  </a:lnTo>
                  <a:cubicBezTo>
                    <a:pt x="79652" y="1014004"/>
                    <a:pt x="0" y="934352"/>
                    <a:pt x="0" y="83609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E28C5C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577069" cy="1061629"/>
            </a:xfrm>
            <a:prstGeom prst="rect">
              <a:avLst/>
            </a:prstGeom>
          </p:spPr>
          <p:txBody>
            <a:bodyPr anchor="ctr" rtlCol="false" tIns="60551" lIns="60551" bIns="60551" rIns="6055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5400000">
            <a:off x="3801812" y="5399475"/>
            <a:ext cx="1295402" cy="4458273"/>
            <a:chOff x="0" y="0"/>
            <a:chExt cx="368024" cy="12665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8024" cy="1266597"/>
            </a:xfrm>
            <a:custGeom>
              <a:avLst/>
              <a:gdLst/>
              <a:ahLst/>
              <a:cxnLst/>
              <a:rect r="r" b="b" t="t" l="l"/>
              <a:pathLst>
                <a:path h="1266597" w="368024">
                  <a:moveTo>
                    <a:pt x="0" y="0"/>
                  </a:moveTo>
                  <a:lnTo>
                    <a:pt x="368024" y="0"/>
                  </a:lnTo>
                  <a:lnTo>
                    <a:pt x="368024" y="1266597"/>
                  </a:lnTo>
                  <a:lnTo>
                    <a:pt x="0" y="1266597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8024" cy="1314222"/>
            </a:xfrm>
            <a:prstGeom prst="rect">
              <a:avLst/>
            </a:prstGeom>
          </p:spPr>
          <p:txBody>
            <a:bodyPr anchor="ctr" rtlCol="false" tIns="60551" lIns="60551" bIns="60551" rIns="6055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5400000">
            <a:off x="2163776" y="5549255"/>
            <a:ext cx="1494713" cy="1368598"/>
            <a:chOff x="0" y="0"/>
            <a:chExt cx="424649" cy="3888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4648" cy="388819"/>
            </a:xfrm>
            <a:custGeom>
              <a:avLst/>
              <a:gdLst/>
              <a:ahLst/>
              <a:cxnLst/>
              <a:rect r="r" b="b" t="t" l="l"/>
              <a:pathLst>
                <a:path h="388819" w="424648">
                  <a:moveTo>
                    <a:pt x="0" y="0"/>
                  </a:moveTo>
                  <a:lnTo>
                    <a:pt x="424648" y="0"/>
                  </a:lnTo>
                  <a:lnTo>
                    <a:pt x="424648" y="388819"/>
                  </a:lnTo>
                  <a:lnTo>
                    <a:pt x="0" y="388819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24649" cy="436444"/>
            </a:xfrm>
            <a:prstGeom prst="rect">
              <a:avLst/>
            </a:prstGeom>
          </p:spPr>
          <p:txBody>
            <a:bodyPr anchor="ctr" rtlCol="false" tIns="60551" lIns="60551" bIns="60551" rIns="6055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336172" y="6557476"/>
            <a:ext cx="2142271" cy="2142271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8C5C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5606567" y="6827871"/>
            <a:ext cx="1988820" cy="1988820"/>
          </a:xfrm>
          <a:custGeom>
            <a:avLst/>
            <a:gdLst/>
            <a:ahLst/>
            <a:cxnLst/>
            <a:rect r="r" b="b" t="t" l="l"/>
            <a:pathLst>
              <a:path h="1988820" w="1988820">
                <a:moveTo>
                  <a:pt x="0" y="0"/>
                </a:moveTo>
                <a:lnTo>
                  <a:pt x="1988820" y="0"/>
                </a:lnTo>
                <a:lnTo>
                  <a:pt x="198882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7" id="67"/>
          <p:cNvGrpSpPr/>
          <p:nvPr/>
        </p:nvGrpSpPr>
        <p:grpSpPr>
          <a:xfrm rot="-5400000">
            <a:off x="5606567" y="6827871"/>
            <a:ext cx="1601481" cy="1601481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45781" lIns="45781" bIns="45781" rIns="45781"/>
            <a:lstStyle/>
            <a:p>
              <a:pPr algn="ctr">
                <a:lnSpc>
                  <a:spcPts val="1743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5400000">
            <a:off x="877706" y="3255809"/>
            <a:ext cx="2219338" cy="3146445"/>
            <a:chOff x="0" y="0"/>
            <a:chExt cx="577069" cy="81813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77069" cy="818134"/>
            </a:xfrm>
            <a:custGeom>
              <a:avLst/>
              <a:gdLst/>
              <a:ahLst/>
              <a:cxnLst/>
              <a:rect r="r" b="b" t="t" l="l"/>
              <a:pathLst>
                <a:path h="818134" w="577069">
                  <a:moveTo>
                    <a:pt x="177908" y="0"/>
                  </a:moveTo>
                  <a:lnTo>
                    <a:pt x="399161" y="0"/>
                  </a:lnTo>
                  <a:cubicBezTo>
                    <a:pt x="497417" y="0"/>
                    <a:pt x="577069" y="79652"/>
                    <a:pt x="577069" y="177908"/>
                  </a:cubicBezTo>
                  <a:lnTo>
                    <a:pt x="577069" y="640226"/>
                  </a:lnTo>
                  <a:cubicBezTo>
                    <a:pt x="577069" y="738482"/>
                    <a:pt x="497417" y="818134"/>
                    <a:pt x="399161" y="818134"/>
                  </a:cubicBezTo>
                  <a:lnTo>
                    <a:pt x="177908" y="818134"/>
                  </a:lnTo>
                  <a:cubicBezTo>
                    <a:pt x="79652" y="818134"/>
                    <a:pt x="0" y="738482"/>
                    <a:pt x="0" y="640226"/>
                  </a:cubicBezTo>
                  <a:lnTo>
                    <a:pt x="0" y="177908"/>
                  </a:lnTo>
                  <a:cubicBezTo>
                    <a:pt x="0" y="79652"/>
                    <a:pt x="79652" y="0"/>
                    <a:pt x="177908" y="0"/>
                  </a:cubicBezTo>
                  <a:close/>
                </a:path>
              </a:pathLst>
            </a:custGeom>
            <a:solidFill>
              <a:srgbClr val="F4EDE2"/>
            </a:solidFill>
            <a:ln w="152400" cap="rnd">
              <a:solidFill>
                <a:srgbClr val="ACAF61"/>
              </a:solidFill>
              <a:prstDash val="solid"/>
              <a:round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577069" cy="865759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5400000">
            <a:off x="1340654" y="2455100"/>
            <a:ext cx="1295402" cy="3452461"/>
            <a:chOff x="0" y="0"/>
            <a:chExt cx="368024" cy="98084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8024" cy="980846"/>
            </a:xfrm>
            <a:custGeom>
              <a:avLst/>
              <a:gdLst/>
              <a:ahLst/>
              <a:cxnLst/>
              <a:rect r="r" b="b" t="t" l="l"/>
              <a:pathLst>
                <a:path h="980846" w="368024">
                  <a:moveTo>
                    <a:pt x="0" y="0"/>
                  </a:moveTo>
                  <a:lnTo>
                    <a:pt x="368024" y="0"/>
                  </a:lnTo>
                  <a:lnTo>
                    <a:pt x="368024" y="980846"/>
                  </a:lnTo>
                  <a:lnTo>
                    <a:pt x="0" y="980846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368024" cy="1028471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5400000">
            <a:off x="-118027" y="5043754"/>
            <a:ext cx="1460832" cy="700529"/>
            <a:chOff x="0" y="0"/>
            <a:chExt cx="415023" cy="1990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15023" cy="199020"/>
            </a:xfrm>
            <a:custGeom>
              <a:avLst/>
              <a:gdLst/>
              <a:ahLst/>
              <a:cxnLst/>
              <a:rect r="r" b="b" t="t" l="l"/>
              <a:pathLst>
                <a:path h="199020" w="415023">
                  <a:moveTo>
                    <a:pt x="0" y="0"/>
                  </a:moveTo>
                  <a:lnTo>
                    <a:pt x="415023" y="0"/>
                  </a:lnTo>
                  <a:lnTo>
                    <a:pt x="415023" y="199020"/>
                  </a:lnTo>
                  <a:lnTo>
                    <a:pt x="0" y="199020"/>
                  </a:lnTo>
                  <a:close/>
                </a:path>
              </a:pathLst>
            </a:custGeom>
            <a:solidFill>
              <a:srgbClr val="F4EDE2"/>
            </a:solidFill>
            <a:ln cap="sq">
              <a:noFill/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415023" cy="24664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364038" y="2735000"/>
            <a:ext cx="2142271" cy="2142271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AF61"/>
            </a:solidFill>
            <a:ln cap="sq">
              <a:noFill/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1456" lIns="51456" bIns="51456" rIns="51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2634433" y="3005395"/>
            <a:ext cx="1988573" cy="1988573"/>
          </a:xfrm>
          <a:custGeom>
            <a:avLst/>
            <a:gdLst/>
            <a:ahLst/>
            <a:cxnLst/>
            <a:rect r="r" b="b" t="t" l="l"/>
            <a:pathLst>
              <a:path h="1988573" w="1988573">
                <a:moveTo>
                  <a:pt x="0" y="0"/>
                </a:moveTo>
                <a:lnTo>
                  <a:pt x="1988573" y="0"/>
                </a:lnTo>
                <a:lnTo>
                  <a:pt x="1988573" y="1988573"/>
                </a:lnTo>
                <a:lnTo>
                  <a:pt x="0" y="1988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3" id="83"/>
          <p:cNvGrpSpPr/>
          <p:nvPr/>
        </p:nvGrpSpPr>
        <p:grpSpPr>
          <a:xfrm rot="-5400000">
            <a:off x="2634433" y="3005395"/>
            <a:ext cx="1601481" cy="1601481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45781" lIns="45781" bIns="45781" rIns="45781"/>
            <a:lstStyle/>
            <a:p>
              <a:pPr algn="ctr">
                <a:lnSpc>
                  <a:spcPts val="1743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4545510">
            <a:off x="120649" y="-1129572"/>
            <a:ext cx="1745252" cy="1799229"/>
          </a:xfrm>
          <a:custGeom>
            <a:avLst/>
            <a:gdLst/>
            <a:ahLst/>
            <a:cxnLst/>
            <a:rect r="r" b="b" t="t" l="l"/>
            <a:pathLst>
              <a:path h="1799229" w="1745252">
                <a:moveTo>
                  <a:pt x="0" y="0"/>
                </a:moveTo>
                <a:lnTo>
                  <a:pt x="1745252" y="0"/>
                </a:lnTo>
                <a:lnTo>
                  <a:pt x="1745252" y="1799229"/>
                </a:lnTo>
                <a:lnTo>
                  <a:pt x="0" y="1799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7" id="87"/>
          <p:cNvSpPr/>
          <p:nvPr/>
        </p:nvSpPr>
        <p:spPr>
          <a:xfrm flipH="false" flipV="false" rot="0">
            <a:off x="17181395" y="9421137"/>
            <a:ext cx="1927808" cy="771123"/>
          </a:xfrm>
          <a:custGeom>
            <a:avLst/>
            <a:gdLst/>
            <a:ahLst/>
            <a:cxnLst/>
            <a:rect r="r" b="b" t="t" l="l"/>
            <a:pathLst>
              <a:path h="771123" w="1927808">
                <a:moveTo>
                  <a:pt x="0" y="0"/>
                </a:moveTo>
                <a:lnTo>
                  <a:pt x="1927807" y="0"/>
                </a:lnTo>
                <a:lnTo>
                  <a:pt x="1927807" y="771123"/>
                </a:lnTo>
                <a:lnTo>
                  <a:pt x="0" y="771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8" id="88"/>
          <p:cNvSpPr/>
          <p:nvPr/>
        </p:nvSpPr>
        <p:spPr>
          <a:xfrm flipH="false" flipV="false" rot="0">
            <a:off x="17259300" y="-878112"/>
            <a:ext cx="1968885" cy="1963962"/>
          </a:xfrm>
          <a:custGeom>
            <a:avLst/>
            <a:gdLst/>
            <a:ahLst/>
            <a:cxnLst/>
            <a:rect r="r" b="b" t="t" l="l"/>
            <a:pathLst>
              <a:path h="1963962" w="1968885">
                <a:moveTo>
                  <a:pt x="0" y="0"/>
                </a:moveTo>
                <a:lnTo>
                  <a:pt x="1968885" y="0"/>
                </a:lnTo>
                <a:lnTo>
                  <a:pt x="1968885" y="1963962"/>
                </a:lnTo>
                <a:lnTo>
                  <a:pt x="0" y="1963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8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9" id="89"/>
          <p:cNvSpPr txBox="true"/>
          <p:nvPr/>
        </p:nvSpPr>
        <p:spPr>
          <a:xfrm rot="0">
            <a:off x="2286800" y="411479"/>
            <a:ext cx="13714401" cy="119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MỤC LỤC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76852" y="7257427"/>
            <a:ext cx="3504825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Bài</a:t>
            </a:r>
            <a:r>
              <a:rPr lang="en-US" sz="30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Toán Lớp Đệm (Caching)</a:t>
            </a:r>
          </a:p>
          <a:p>
            <a:pPr algn="l">
              <a:lnSpc>
                <a:spcPts val="3719"/>
              </a:lnSpc>
            </a:pPr>
          </a:p>
        </p:txBody>
      </p:sp>
      <p:sp>
        <p:nvSpPr>
          <p:cNvPr name="TextBox 91" id="91"/>
          <p:cNvSpPr txBox="true"/>
          <p:nvPr/>
        </p:nvSpPr>
        <p:spPr>
          <a:xfrm rot="0">
            <a:off x="8309762" y="7087524"/>
            <a:ext cx="252535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</a:t>
            </a:r>
            <a:r>
              <a:rPr lang="en-US" sz="30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iến Lược Cache-Aside</a:t>
            </a:r>
          </a:p>
          <a:p>
            <a:pPr algn="l">
              <a:lnSpc>
                <a:spcPts val="3719"/>
              </a:lnSpc>
            </a:pPr>
          </a:p>
        </p:txBody>
      </p:sp>
      <p:sp>
        <p:nvSpPr>
          <p:cNvPr name="TextBox 92" id="92"/>
          <p:cNvSpPr txBox="true"/>
          <p:nvPr/>
        </p:nvSpPr>
        <p:spPr>
          <a:xfrm rot="0">
            <a:off x="15889682" y="3313267"/>
            <a:ext cx="243026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74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 Sánh Redis &amp; Memcached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849410" y="3130501"/>
            <a:ext cx="260900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Tổng</a:t>
            </a:r>
            <a:r>
              <a:rPr lang="en-US" sz="31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Quan Công Nghệ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94" id="94"/>
          <p:cNvSpPr txBox="true"/>
          <p:nvPr/>
        </p:nvSpPr>
        <p:spPr>
          <a:xfrm rot="0">
            <a:off x="10404506" y="3170727"/>
            <a:ext cx="2873536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Mô Hìn</a:t>
            </a:r>
            <a:r>
              <a:rPr lang="en-US" sz="29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 Session Storage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95" id="95"/>
          <p:cNvSpPr txBox="true"/>
          <p:nvPr/>
        </p:nvSpPr>
        <p:spPr>
          <a:xfrm rot="0">
            <a:off x="2887928" y="3402275"/>
            <a:ext cx="1028032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B3B675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430943" y="3447904"/>
            <a:ext cx="102803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E26D5C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4111386" y="3419946"/>
            <a:ext cx="1028032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472D30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893292" y="7224751"/>
            <a:ext cx="1028032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E28C5C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441729" y="7309298"/>
            <a:ext cx="102803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723D46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1447" y="847725"/>
            <a:ext cx="16617997" cy="249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75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REDIS - IN-MEMORY NOSQL</a:t>
            </a:r>
          </a:p>
          <a:p>
            <a:pPr algn="l">
              <a:lnSpc>
                <a:spcPts val="9202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41519" y="2974989"/>
            <a:ext cx="7920858" cy="2893369"/>
            <a:chOff x="0" y="0"/>
            <a:chExt cx="10561145" cy="385782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853968" cy="3857825"/>
              <a:chOff x="0" y="0"/>
              <a:chExt cx="1946463" cy="76203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46463" cy="762039"/>
              </a:xfrm>
              <a:custGeom>
                <a:avLst/>
                <a:gdLst/>
                <a:ahLst/>
                <a:cxnLst/>
                <a:rect r="r" b="b" t="t" l="l"/>
                <a:pathLst>
                  <a:path h="762039" w="1946463">
                    <a:moveTo>
                      <a:pt x="53425" y="0"/>
                    </a:moveTo>
                    <a:lnTo>
                      <a:pt x="1893038" y="0"/>
                    </a:lnTo>
                    <a:cubicBezTo>
                      <a:pt x="1922544" y="0"/>
                      <a:pt x="1946463" y="23919"/>
                      <a:pt x="1946463" y="53425"/>
                    </a:cubicBezTo>
                    <a:lnTo>
                      <a:pt x="1946463" y="708614"/>
                    </a:lnTo>
                    <a:cubicBezTo>
                      <a:pt x="1946463" y="738120"/>
                      <a:pt x="1922544" y="762039"/>
                      <a:pt x="1893038" y="762039"/>
                    </a:cubicBezTo>
                    <a:lnTo>
                      <a:pt x="53425" y="762039"/>
                    </a:lnTo>
                    <a:cubicBezTo>
                      <a:pt x="23919" y="762039"/>
                      <a:pt x="0" y="738120"/>
                      <a:pt x="0" y="708614"/>
                    </a:cubicBezTo>
                    <a:lnTo>
                      <a:pt x="0" y="53425"/>
                    </a:lnTo>
                    <a:cubicBezTo>
                      <a:pt x="0" y="23919"/>
                      <a:pt x="23919" y="0"/>
                      <a:pt x="53425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0"/>
                <a:ext cx="1946463" cy="857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71931" y="1488184"/>
              <a:ext cx="8978871" cy="1604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03"/>
                </a:lnSpc>
              </a:pPr>
              <a:r>
                <a:rPr lang="en-US" sz="28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Đạt tốc độ truy xuất dưới 1ms, nhanh hơn hàng trăm lần ổ đĩa cứng.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71931" y="626146"/>
              <a:ext cx="10189213" cy="1598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42"/>
                </a:lnSpc>
              </a:pPr>
              <a:r>
                <a:rPr lang="en-US" sz="3530" b="true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Lưu Trữ Hoàn Toàn RAM</a:t>
              </a:r>
            </a:p>
            <a:p>
              <a:pPr algn="l">
                <a:lnSpc>
                  <a:spcPts val="494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02242" y="2974989"/>
            <a:ext cx="7836997" cy="2767577"/>
            <a:chOff x="0" y="0"/>
            <a:chExt cx="10449330" cy="369010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097693" cy="3690103"/>
              <a:chOff x="0" y="0"/>
              <a:chExt cx="1797075" cy="72890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97075" cy="728909"/>
              </a:xfrm>
              <a:custGeom>
                <a:avLst/>
                <a:gdLst/>
                <a:ahLst/>
                <a:cxnLst/>
                <a:rect r="r" b="b" t="t" l="l"/>
                <a:pathLst>
                  <a:path h="728909" w="1797075">
                    <a:moveTo>
                      <a:pt x="57866" y="0"/>
                    </a:moveTo>
                    <a:lnTo>
                      <a:pt x="1739209" y="0"/>
                    </a:lnTo>
                    <a:cubicBezTo>
                      <a:pt x="1771167" y="0"/>
                      <a:pt x="1797075" y="25908"/>
                      <a:pt x="1797075" y="57866"/>
                    </a:cubicBezTo>
                    <a:lnTo>
                      <a:pt x="1797075" y="671043"/>
                    </a:lnTo>
                    <a:cubicBezTo>
                      <a:pt x="1797075" y="703001"/>
                      <a:pt x="1771167" y="728909"/>
                      <a:pt x="1739209" y="728909"/>
                    </a:cubicBezTo>
                    <a:lnTo>
                      <a:pt x="57866" y="728909"/>
                    </a:lnTo>
                    <a:cubicBezTo>
                      <a:pt x="42519" y="728909"/>
                      <a:pt x="27801" y="722813"/>
                      <a:pt x="16949" y="711960"/>
                    </a:cubicBezTo>
                    <a:cubicBezTo>
                      <a:pt x="6097" y="701108"/>
                      <a:pt x="0" y="686390"/>
                      <a:pt x="0" y="671043"/>
                    </a:cubicBezTo>
                    <a:lnTo>
                      <a:pt x="0" y="57866"/>
                    </a:lnTo>
                    <a:cubicBezTo>
                      <a:pt x="0" y="25908"/>
                      <a:pt x="25908" y="0"/>
                      <a:pt x="57866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0"/>
                <a:ext cx="1797075" cy="824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67993" y="1488184"/>
              <a:ext cx="8363136" cy="1537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27"/>
                </a:lnSpc>
              </a:pPr>
              <a:r>
                <a:rPr lang="en-US" sz="27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Không chỉ lưu chuỗi thuần mà hỗ trợ Hash, List, Set, Sorted Set và JSON.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67993" y="682054"/>
              <a:ext cx="10081337" cy="1645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82"/>
                </a:lnSpc>
              </a:pPr>
              <a:r>
                <a:rPr lang="en-US" sz="3630" b="true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Cấu Trúc Key-Value</a:t>
              </a:r>
            </a:p>
            <a:p>
              <a:pPr algn="l">
                <a:lnSpc>
                  <a:spcPts val="50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06369" y="6490723"/>
            <a:ext cx="7920858" cy="3017329"/>
            <a:chOff x="0" y="0"/>
            <a:chExt cx="10561145" cy="402310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561145" cy="4023106"/>
              <a:chOff x="0" y="0"/>
              <a:chExt cx="2086152" cy="79468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86152" cy="794688"/>
              </a:xfrm>
              <a:custGeom>
                <a:avLst/>
                <a:gdLst/>
                <a:ahLst/>
                <a:cxnLst/>
                <a:rect r="r" b="b" t="t" l="l"/>
                <a:pathLst>
                  <a:path h="794688" w="2086152">
                    <a:moveTo>
                      <a:pt x="49848" y="0"/>
                    </a:moveTo>
                    <a:lnTo>
                      <a:pt x="2036304" y="0"/>
                    </a:lnTo>
                    <a:cubicBezTo>
                      <a:pt x="2063834" y="0"/>
                      <a:pt x="2086152" y="22318"/>
                      <a:pt x="2086152" y="49848"/>
                    </a:cubicBezTo>
                    <a:lnTo>
                      <a:pt x="2086152" y="744840"/>
                    </a:lnTo>
                    <a:cubicBezTo>
                      <a:pt x="2086152" y="772370"/>
                      <a:pt x="2063834" y="794688"/>
                      <a:pt x="2036304" y="794688"/>
                    </a:cubicBezTo>
                    <a:lnTo>
                      <a:pt x="49848" y="794688"/>
                    </a:lnTo>
                    <a:cubicBezTo>
                      <a:pt x="22318" y="794688"/>
                      <a:pt x="0" y="772370"/>
                      <a:pt x="0" y="744840"/>
                    </a:cubicBezTo>
                    <a:lnTo>
                      <a:pt x="0" y="49848"/>
                    </a:lnTo>
                    <a:cubicBezTo>
                      <a:pt x="0" y="22318"/>
                      <a:pt x="22318" y="0"/>
                      <a:pt x="4984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0"/>
                <a:ext cx="2086152" cy="8899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71931" y="1859153"/>
              <a:ext cx="9610529" cy="164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279"/>
                </a:lnSpc>
              </a:pPr>
              <a:r>
                <a:rPr lang="en-US" sz="29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Đảm nhiệm vai trò Caching, Distributed Session Store và Message Broker.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71931" y="682054"/>
              <a:ext cx="10189213" cy="1621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82"/>
                </a:lnSpc>
              </a:pPr>
              <a:r>
                <a:rPr lang="en-US" sz="3630" b="true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Đa Dạng Vai Trò Hạ Tầng</a:t>
              </a:r>
            </a:p>
            <a:p>
              <a:pPr algn="l">
                <a:lnSpc>
                  <a:spcPts val="4942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5214" y="0"/>
            <a:ext cx="2370186" cy="10287000"/>
            <a:chOff x="0" y="0"/>
            <a:chExt cx="62424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4246" cy="2709333"/>
            </a:xfrm>
            <a:custGeom>
              <a:avLst/>
              <a:gdLst/>
              <a:ahLst/>
              <a:cxnLst/>
              <a:rect r="r" b="b" t="t" l="l"/>
              <a:pathLst>
                <a:path h="2709333" w="624246">
                  <a:moveTo>
                    <a:pt x="117590" y="0"/>
                  </a:moveTo>
                  <a:lnTo>
                    <a:pt x="506657" y="0"/>
                  </a:lnTo>
                  <a:cubicBezTo>
                    <a:pt x="537844" y="0"/>
                    <a:pt x="567753" y="12389"/>
                    <a:pt x="589805" y="34441"/>
                  </a:cubicBezTo>
                  <a:cubicBezTo>
                    <a:pt x="611858" y="56494"/>
                    <a:pt x="624246" y="86403"/>
                    <a:pt x="624246" y="117590"/>
                  </a:cubicBezTo>
                  <a:lnTo>
                    <a:pt x="624246" y="2591744"/>
                  </a:lnTo>
                  <a:cubicBezTo>
                    <a:pt x="624246" y="2622930"/>
                    <a:pt x="611858" y="2652840"/>
                    <a:pt x="589805" y="2674892"/>
                  </a:cubicBezTo>
                  <a:cubicBezTo>
                    <a:pt x="567753" y="2696944"/>
                    <a:pt x="537844" y="2709333"/>
                    <a:pt x="506657" y="2709333"/>
                  </a:cubicBezTo>
                  <a:lnTo>
                    <a:pt x="117590" y="2709333"/>
                  </a:lnTo>
                  <a:cubicBezTo>
                    <a:pt x="52647" y="2709333"/>
                    <a:pt x="0" y="2656687"/>
                    <a:pt x="0" y="2591744"/>
                  </a:cubicBezTo>
                  <a:lnTo>
                    <a:pt x="0" y="117590"/>
                  </a:lnTo>
                  <a:cubicBezTo>
                    <a:pt x="0" y="86403"/>
                    <a:pt x="12389" y="56494"/>
                    <a:pt x="34441" y="34441"/>
                  </a:cubicBezTo>
                  <a:cubicBezTo>
                    <a:pt x="56494" y="12389"/>
                    <a:pt x="86403" y="0"/>
                    <a:pt x="11759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624246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65239"/>
            <a:ext cx="9748641" cy="1824732"/>
            <a:chOff x="0" y="0"/>
            <a:chExt cx="12998188" cy="243297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989955" cy="1790562"/>
              <a:chOff x="0" y="0"/>
              <a:chExt cx="1627052" cy="32406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27052" cy="324066"/>
              </a:xfrm>
              <a:custGeom>
                <a:avLst/>
                <a:gdLst/>
                <a:ahLst/>
                <a:cxnLst/>
                <a:rect r="r" b="b" t="t" l="l"/>
                <a:pathLst>
                  <a:path h="324066" w="1627052">
                    <a:moveTo>
                      <a:pt x="63913" y="0"/>
                    </a:moveTo>
                    <a:lnTo>
                      <a:pt x="1563139" y="0"/>
                    </a:lnTo>
                    <a:cubicBezTo>
                      <a:pt x="1580090" y="0"/>
                      <a:pt x="1596346" y="6734"/>
                      <a:pt x="1608332" y="18720"/>
                    </a:cubicBezTo>
                    <a:cubicBezTo>
                      <a:pt x="1620318" y="30706"/>
                      <a:pt x="1627052" y="46962"/>
                      <a:pt x="1627052" y="63913"/>
                    </a:cubicBezTo>
                    <a:lnTo>
                      <a:pt x="1627052" y="260153"/>
                    </a:lnTo>
                    <a:cubicBezTo>
                      <a:pt x="1627052" y="277104"/>
                      <a:pt x="1620318" y="293360"/>
                      <a:pt x="1608332" y="305346"/>
                    </a:cubicBezTo>
                    <a:cubicBezTo>
                      <a:pt x="1596346" y="317332"/>
                      <a:pt x="1580090" y="324066"/>
                      <a:pt x="1563139" y="324066"/>
                    </a:cubicBezTo>
                    <a:lnTo>
                      <a:pt x="63913" y="324066"/>
                    </a:lnTo>
                    <a:cubicBezTo>
                      <a:pt x="46962" y="324066"/>
                      <a:pt x="30706" y="317332"/>
                      <a:pt x="18720" y="305346"/>
                    </a:cubicBezTo>
                    <a:cubicBezTo>
                      <a:pt x="6734" y="293360"/>
                      <a:pt x="0" y="277104"/>
                      <a:pt x="0" y="260153"/>
                    </a:cubicBezTo>
                    <a:lnTo>
                      <a:pt x="0" y="63913"/>
                    </a:lnTo>
                    <a:cubicBezTo>
                      <a:pt x="0" y="46962"/>
                      <a:pt x="6734" y="30706"/>
                      <a:pt x="18720" y="18720"/>
                    </a:cubicBezTo>
                    <a:cubicBezTo>
                      <a:pt x="30706" y="6734"/>
                      <a:pt x="46962" y="0"/>
                      <a:pt x="6391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0"/>
                <a:ext cx="1627052" cy="4193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17007" y="1619112"/>
              <a:ext cx="12481181" cy="813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7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625735" y="507038"/>
              <a:ext cx="7171959" cy="855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94"/>
                </a:lnSpc>
              </a:pPr>
              <a:r>
                <a:rPr lang="en-US" sz="3853" b="true">
                  <a:solidFill>
                    <a:srgbClr val="FF313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Quá Tải Đọc Đĩa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96485" y="6435636"/>
            <a:ext cx="10684765" cy="1611568"/>
            <a:chOff x="0" y="0"/>
            <a:chExt cx="14246353" cy="214875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588474" cy="2148757"/>
              <a:chOff x="0" y="0"/>
              <a:chExt cx="1813250" cy="36796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813250" cy="367969"/>
              </a:xfrm>
              <a:custGeom>
                <a:avLst/>
                <a:gdLst/>
                <a:ahLst/>
                <a:cxnLst/>
                <a:rect r="r" b="b" t="t" l="l"/>
                <a:pathLst>
                  <a:path h="367969" w="1813250">
                    <a:moveTo>
                      <a:pt x="54543" y="0"/>
                    </a:moveTo>
                    <a:lnTo>
                      <a:pt x="1758707" y="0"/>
                    </a:lnTo>
                    <a:cubicBezTo>
                      <a:pt x="1773173" y="0"/>
                      <a:pt x="1787046" y="5747"/>
                      <a:pt x="1797275" y="15975"/>
                    </a:cubicBezTo>
                    <a:cubicBezTo>
                      <a:pt x="1807504" y="26204"/>
                      <a:pt x="1813250" y="40078"/>
                      <a:pt x="1813250" y="54543"/>
                    </a:cubicBezTo>
                    <a:lnTo>
                      <a:pt x="1813250" y="313426"/>
                    </a:lnTo>
                    <a:cubicBezTo>
                      <a:pt x="1813250" y="343550"/>
                      <a:pt x="1788830" y="367969"/>
                      <a:pt x="1758707" y="367969"/>
                    </a:cubicBezTo>
                    <a:lnTo>
                      <a:pt x="54543" y="367969"/>
                    </a:lnTo>
                    <a:cubicBezTo>
                      <a:pt x="40078" y="367969"/>
                      <a:pt x="26204" y="362223"/>
                      <a:pt x="15975" y="351994"/>
                    </a:cubicBezTo>
                    <a:cubicBezTo>
                      <a:pt x="5747" y="341765"/>
                      <a:pt x="0" y="327892"/>
                      <a:pt x="0" y="313426"/>
                    </a:cubicBezTo>
                    <a:lnTo>
                      <a:pt x="0" y="54543"/>
                    </a:lnTo>
                    <a:cubicBezTo>
                      <a:pt x="0" y="40078"/>
                      <a:pt x="5747" y="26204"/>
                      <a:pt x="15975" y="15975"/>
                    </a:cubicBezTo>
                    <a:cubicBezTo>
                      <a:pt x="26204" y="5747"/>
                      <a:pt x="40078" y="0"/>
                      <a:pt x="5454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0"/>
                <a:ext cx="1813250" cy="463219"/>
              </a:xfrm>
              <a:prstGeom prst="rect">
                <a:avLst/>
              </a:prstGeom>
            </p:spPr>
            <p:txBody>
              <a:bodyPr anchor="ctr" rtlCol="false" tIns="53414" lIns="53414" bIns="53414" rIns="53414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90148" y="628027"/>
              <a:ext cx="11456206" cy="8996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1"/>
                </a:lnSpc>
              </a:pPr>
              <a:r>
                <a:rPr lang="en-US" sz="4072" b="true">
                  <a:solidFill>
                    <a:srgbClr val="FF313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Mất Phiên Đăng Nhập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777572" y="610918"/>
              <a:ext cx="1287373" cy="1021725"/>
            </a:xfrm>
            <a:custGeom>
              <a:avLst/>
              <a:gdLst/>
              <a:ahLst/>
              <a:cxnLst/>
              <a:rect r="r" b="b" t="t" l="l"/>
              <a:pathLst>
                <a:path h="1021725" w="1287373">
                  <a:moveTo>
                    <a:pt x="0" y="0"/>
                  </a:moveTo>
                  <a:lnTo>
                    <a:pt x="1287373" y="0"/>
                  </a:lnTo>
                  <a:lnTo>
                    <a:pt x="1287373" y="1021724"/>
                  </a:lnTo>
                  <a:lnTo>
                    <a:pt x="0" y="102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843794" y="4489971"/>
            <a:ext cx="10571063" cy="1581113"/>
            <a:chOff x="0" y="0"/>
            <a:chExt cx="14094750" cy="210815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674937" cy="2108151"/>
              <a:chOff x="0" y="0"/>
              <a:chExt cx="2352516" cy="39128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352516" cy="391281"/>
              </a:xfrm>
              <a:custGeom>
                <a:avLst/>
                <a:gdLst/>
                <a:ahLst/>
                <a:cxnLst/>
                <a:rect r="r" b="b" t="t" l="l"/>
                <a:pathLst>
                  <a:path h="391281" w="2352516">
                    <a:moveTo>
                      <a:pt x="42040" y="0"/>
                    </a:moveTo>
                    <a:lnTo>
                      <a:pt x="2310475" y="0"/>
                    </a:lnTo>
                    <a:cubicBezTo>
                      <a:pt x="2321625" y="0"/>
                      <a:pt x="2332318" y="4429"/>
                      <a:pt x="2340202" y="12313"/>
                    </a:cubicBezTo>
                    <a:cubicBezTo>
                      <a:pt x="2348087" y="20197"/>
                      <a:pt x="2352516" y="30891"/>
                      <a:pt x="2352516" y="42040"/>
                    </a:cubicBezTo>
                    <a:lnTo>
                      <a:pt x="2352516" y="349240"/>
                    </a:lnTo>
                    <a:cubicBezTo>
                      <a:pt x="2352516" y="360390"/>
                      <a:pt x="2348087" y="371083"/>
                      <a:pt x="2340202" y="378967"/>
                    </a:cubicBezTo>
                    <a:cubicBezTo>
                      <a:pt x="2332318" y="386851"/>
                      <a:pt x="2321625" y="391281"/>
                      <a:pt x="2310475" y="391281"/>
                    </a:cubicBezTo>
                    <a:lnTo>
                      <a:pt x="42040" y="391281"/>
                    </a:lnTo>
                    <a:cubicBezTo>
                      <a:pt x="30891" y="391281"/>
                      <a:pt x="20197" y="386851"/>
                      <a:pt x="12313" y="378967"/>
                    </a:cubicBezTo>
                    <a:cubicBezTo>
                      <a:pt x="4429" y="371083"/>
                      <a:pt x="0" y="360390"/>
                      <a:pt x="0" y="349240"/>
                    </a:cubicBezTo>
                    <a:lnTo>
                      <a:pt x="0" y="42040"/>
                    </a:lnTo>
                    <a:cubicBezTo>
                      <a:pt x="0" y="30891"/>
                      <a:pt x="4429" y="20197"/>
                      <a:pt x="12313" y="12313"/>
                    </a:cubicBezTo>
                    <a:cubicBezTo>
                      <a:pt x="20197" y="4429"/>
                      <a:pt x="30891" y="0"/>
                      <a:pt x="42040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0"/>
                <a:ext cx="2352516" cy="486531"/>
              </a:xfrm>
              <a:prstGeom prst="rect">
                <a:avLst/>
              </a:prstGeom>
            </p:spPr>
            <p:txBody>
              <a:bodyPr anchor="ctr" rtlCol="false" tIns="53414" lIns="53414" bIns="53414" rIns="53414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761741" y="583081"/>
              <a:ext cx="12333009" cy="875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0"/>
                </a:lnSpc>
              </a:pPr>
              <a:r>
                <a:rPr lang="en-US" sz="3993" b="true">
                  <a:solidFill>
                    <a:srgbClr val="FF3131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Chi phí tính toán lặp lại vô ích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499304" y="456424"/>
              <a:ext cx="884525" cy="1195304"/>
            </a:xfrm>
            <a:custGeom>
              <a:avLst/>
              <a:gdLst/>
              <a:ahLst/>
              <a:cxnLst/>
              <a:rect r="r" b="b" t="t" l="l"/>
              <a:pathLst>
                <a:path h="1195304" w="884525">
                  <a:moveTo>
                    <a:pt x="0" y="0"/>
                  </a:moveTo>
                  <a:lnTo>
                    <a:pt x="884524" y="0"/>
                  </a:lnTo>
                  <a:lnTo>
                    <a:pt x="884524" y="1195303"/>
                  </a:lnTo>
                  <a:lnTo>
                    <a:pt x="0" y="1195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24528" y="2783242"/>
            <a:ext cx="1080589" cy="1080589"/>
          </a:xfrm>
          <a:custGeom>
            <a:avLst/>
            <a:gdLst/>
            <a:ahLst/>
            <a:cxnLst/>
            <a:rect r="r" b="b" t="t" l="l"/>
            <a:pathLst>
              <a:path h="1080589" w="1080589">
                <a:moveTo>
                  <a:pt x="0" y="0"/>
                </a:moveTo>
                <a:lnTo>
                  <a:pt x="1080588" y="0"/>
                </a:lnTo>
                <a:lnTo>
                  <a:pt x="1080588" y="1080589"/>
                </a:lnTo>
                <a:lnTo>
                  <a:pt x="0" y="1080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-186950" y="552845"/>
            <a:ext cx="17975214" cy="8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b="true" sz="4896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TẠI SAO HỆ THỐNG CẦN ĐẾN LỚP ĐỆM REDIS?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1447" y="1278649"/>
            <a:ext cx="15900858" cy="221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</a:pPr>
            <a:r>
              <a:rPr lang="en-US" sz="673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HAI TRỤ CỘT TỐI ƯU HỆ THỐNG</a:t>
            </a:r>
          </a:p>
          <a:p>
            <a:pPr algn="l">
              <a:lnSpc>
                <a:spcPts val="818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41519" y="4068903"/>
            <a:ext cx="7920858" cy="3229958"/>
            <a:chOff x="0" y="0"/>
            <a:chExt cx="10561145" cy="430661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115760" cy="4306610"/>
              <a:chOff x="0" y="0"/>
              <a:chExt cx="1998175" cy="8506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98175" cy="850688"/>
              </a:xfrm>
              <a:custGeom>
                <a:avLst/>
                <a:gdLst/>
                <a:ahLst/>
                <a:cxnLst/>
                <a:rect r="r" b="b" t="t" l="l"/>
                <a:pathLst>
                  <a:path h="850688" w="1998175">
                    <a:moveTo>
                      <a:pt x="52043" y="0"/>
                    </a:moveTo>
                    <a:lnTo>
                      <a:pt x="1946132" y="0"/>
                    </a:lnTo>
                    <a:cubicBezTo>
                      <a:pt x="1974874" y="0"/>
                      <a:pt x="1998175" y="23300"/>
                      <a:pt x="1998175" y="52043"/>
                    </a:cubicBezTo>
                    <a:lnTo>
                      <a:pt x="1998175" y="798646"/>
                    </a:lnTo>
                    <a:cubicBezTo>
                      <a:pt x="1998175" y="827388"/>
                      <a:pt x="1974874" y="850688"/>
                      <a:pt x="1946132" y="850688"/>
                    </a:cubicBezTo>
                    <a:lnTo>
                      <a:pt x="52043" y="850688"/>
                    </a:lnTo>
                    <a:cubicBezTo>
                      <a:pt x="23300" y="850688"/>
                      <a:pt x="0" y="827388"/>
                      <a:pt x="0" y="798646"/>
                    </a:cubicBezTo>
                    <a:lnTo>
                      <a:pt x="0" y="52043"/>
                    </a:lnTo>
                    <a:cubicBezTo>
                      <a:pt x="0" y="23300"/>
                      <a:pt x="23300" y="0"/>
                      <a:pt x="5204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0"/>
                <a:ext cx="1998175" cy="9459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71931" y="1488184"/>
              <a:ext cx="9482037" cy="2468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03"/>
                </a:lnSpc>
              </a:pPr>
              <a:r>
                <a:rPr lang="en-US" sz="28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Kỹ thuật lưu trữ tạm thời dữ liệu nóng trên RAM tốc độ cao. Tiết kiệm tài nguyên, bỏ qua bước quét ổ cứng Database.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71931" y="616621"/>
              <a:ext cx="10189213" cy="172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2"/>
                </a:lnSpc>
              </a:pPr>
              <a:r>
                <a:rPr lang="en-US" sz="4030" b="true">
                  <a:solidFill>
                    <a:srgbClr val="122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Caching</a:t>
              </a:r>
            </a:p>
            <a:p>
              <a:pPr algn="l">
                <a:lnSpc>
                  <a:spcPts val="494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54684" y="4068903"/>
            <a:ext cx="7836997" cy="3244411"/>
            <a:chOff x="0" y="0"/>
            <a:chExt cx="10449330" cy="432588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097693" cy="4325882"/>
              <a:chOff x="0" y="0"/>
              <a:chExt cx="1797075" cy="85449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97075" cy="854495"/>
              </a:xfrm>
              <a:custGeom>
                <a:avLst/>
                <a:gdLst/>
                <a:ahLst/>
                <a:cxnLst/>
                <a:rect r="r" b="b" t="t" l="l"/>
                <a:pathLst>
                  <a:path h="854495" w="1797075">
                    <a:moveTo>
                      <a:pt x="57866" y="0"/>
                    </a:moveTo>
                    <a:lnTo>
                      <a:pt x="1739209" y="0"/>
                    </a:lnTo>
                    <a:cubicBezTo>
                      <a:pt x="1771167" y="0"/>
                      <a:pt x="1797075" y="25908"/>
                      <a:pt x="1797075" y="57866"/>
                    </a:cubicBezTo>
                    <a:lnTo>
                      <a:pt x="1797075" y="796629"/>
                    </a:lnTo>
                    <a:cubicBezTo>
                      <a:pt x="1797075" y="828588"/>
                      <a:pt x="1771167" y="854495"/>
                      <a:pt x="1739209" y="854495"/>
                    </a:cubicBezTo>
                    <a:lnTo>
                      <a:pt x="57866" y="854495"/>
                    </a:lnTo>
                    <a:cubicBezTo>
                      <a:pt x="25908" y="854495"/>
                      <a:pt x="0" y="828588"/>
                      <a:pt x="0" y="796629"/>
                    </a:cubicBezTo>
                    <a:lnTo>
                      <a:pt x="0" y="57866"/>
                    </a:lnTo>
                    <a:cubicBezTo>
                      <a:pt x="0" y="25908"/>
                      <a:pt x="25908" y="0"/>
                      <a:pt x="57866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0"/>
                <a:ext cx="1797075" cy="9497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67993" y="1488184"/>
              <a:ext cx="8363136" cy="2363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27"/>
                </a:lnSpc>
              </a:pPr>
              <a:r>
                <a:rPr lang="en-US" sz="2799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Kho lưu trạng thái đăng nhập người dùng tập trung. Truy xuất cực nhanh, đồng bộ toàn bộ cụm Microservices.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67993" y="672529"/>
              <a:ext cx="10081337" cy="1844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42"/>
                </a:lnSpc>
              </a:pPr>
              <a:r>
                <a:rPr lang="en-US" sz="4030" b="true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Session Storage</a:t>
              </a:r>
            </a:p>
            <a:p>
              <a:pPr algn="l">
                <a:lnSpc>
                  <a:spcPts val="564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7076" y="1252198"/>
            <a:ext cx="16381672" cy="119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6877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LUỒNG CACHE-ASIDE PATTERN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2336" y="4305626"/>
            <a:ext cx="4204375" cy="2700990"/>
            <a:chOff x="0" y="0"/>
            <a:chExt cx="5605833" cy="3601320"/>
          </a:xfrm>
        </p:grpSpPr>
        <p:grpSp>
          <p:nvGrpSpPr>
            <p:cNvPr name="Group 7" id="7"/>
            <p:cNvGrpSpPr/>
            <p:nvPr/>
          </p:nvGrpSpPr>
          <p:grpSpPr>
            <a:xfrm rot="-5400000">
              <a:off x="1312451" y="-692061"/>
              <a:ext cx="3601320" cy="4985442"/>
              <a:chOff x="0" y="0"/>
              <a:chExt cx="381000" cy="5274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1000" cy="527433"/>
              </a:xfrm>
              <a:custGeom>
                <a:avLst/>
                <a:gdLst/>
                <a:ahLst/>
                <a:cxnLst/>
                <a:rect r="r" b="b" t="t" l="l"/>
                <a:pathLst>
                  <a:path h="527433" w="381000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C9E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587670"/>
              <a:ext cx="5062275" cy="64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Kiểm Tra Cache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19496" y="1512996"/>
              <a:ext cx="3764858" cy="1152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b="true" sz="250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Dịch vụ gửi lệnh GET kiểm tra khóa.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86251" y="6557804"/>
            <a:ext cx="3739082" cy="2700990"/>
            <a:chOff x="0" y="0"/>
            <a:chExt cx="4985442" cy="3601320"/>
          </a:xfrm>
        </p:grpSpPr>
        <p:grpSp>
          <p:nvGrpSpPr>
            <p:cNvPr name="Group 13" id="13"/>
            <p:cNvGrpSpPr/>
            <p:nvPr/>
          </p:nvGrpSpPr>
          <p:grpSpPr>
            <a:xfrm rot="-5400000">
              <a:off x="692061" y="-692061"/>
              <a:ext cx="3601320" cy="4985442"/>
              <a:chOff x="0" y="0"/>
              <a:chExt cx="381000" cy="52743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81000" cy="527433"/>
              </a:xfrm>
              <a:custGeom>
                <a:avLst/>
                <a:gdLst/>
                <a:ahLst/>
                <a:cxnLst/>
                <a:rect r="r" b="b" t="t" l="l"/>
                <a:pathLst>
                  <a:path h="527433" w="381000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FBDBD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46817" y="611645"/>
              <a:ext cx="3647737" cy="1352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Cache Hit</a:t>
              </a:r>
            </a:p>
            <a:p>
              <a:pPr algn="ctr">
                <a:lnSpc>
                  <a:spcPts val="4194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9105" y="1512996"/>
              <a:ext cx="3764858" cy="1152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b="true" sz="250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Dữ liệu trả về ngay lập tức cho client.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86251" y="3152211"/>
            <a:ext cx="3739082" cy="2700990"/>
            <a:chOff x="0" y="0"/>
            <a:chExt cx="4985442" cy="3601320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692061" y="-692061"/>
              <a:ext cx="3601320" cy="4985442"/>
              <a:chOff x="0" y="0"/>
              <a:chExt cx="381000" cy="52743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81000" cy="527433"/>
              </a:xfrm>
              <a:custGeom>
                <a:avLst/>
                <a:gdLst/>
                <a:ahLst/>
                <a:cxnLst/>
                <a:rect r="r" b="b" t="t" l="l"/>
                <a:pathLst>
                  <a:path h="527433" w="381000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C9E1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46817" y="611645"/>
              <a:ext cx="3647737" cy="64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Cache Miss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2656" y="1523250"/>
              <a:ext cx="3764858" cy="1152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b="true" sz="250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Đọ</a:t>
              </a:r>
              <a:r>
                <a:rPr lang="en-US" b="true" sz="250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 cơ sở dữ liệu gốc.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94874" y="4305626"/>
            <a:ext cx="3739082" cy="2700990"/>
            <a:chOff x="0" y="0"/>
            <a:chExt cx="4985442" cy="3601320"/>
          </a:xfrm>
        </p:grpSpPr>
        <p:grpSp>
          <p:nvGrpSpPr>
            <p:cNvPr name="Group 25" id="25"/>
            <p:cNvGrpSpPr/>
            <p:nvPr/>
          </p:nvGrpSpPr>
          <p:grpSpPr>
            <a:xfrm rot="-5400000">
              <a:off x="692061" y="-692061"/>
              <a:ext cx="3601320" cy="4985442"/>
              <a:chOff x="0" y="0"/>
              <a:chExt cx="381000" cy="5274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81000" cy="527433"/>
              </a:xfrm>
              <a:custGeom>
                <a:avLst/>
                <a:gdLst/>
                <a:ahLst/>
                <a:cxnLst/>
                <a:rect r="r" b="b" t="t" l="l"/>
                <a:pathLst>
                  <a:path h="527433" w="381000">
                    <a:moveTo>
                      <a:pt x="381000" y="48325"/>
                    </a:moveTo>
                    <a:lnTo>
                      <a:pt x="381000" y="358523"/>
                    </a:lnTo>
                    <a:lnTo>
                      <a:pt x="190500" y="527433"/>
                    </a:lnTo>
                    <a:lnTo>
                      <a:pt x="0" y="358523"/>
                    </a:lnTo>
                    <a:lnTo>
                      <a:pt x="0" y="48325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2860"/>
                      <a:pt x="381000" y="48325"/>
                    </a:cubicBezTo>
                    <a:close/>
                  </a:path>
                </a:pathLst>
              </a:custGeom>
              <a:solidFill>
                <a:srgbClr val="FBDBD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0"/>
                <a:ext cx="381000" cy="446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46817" y="611645"/>
              <a:ext cx="3647737" cy="649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4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Đồng</a:t>
              </a:r>
              <a:r>
                <a:rPr lang="en-US" b="true" sz="2995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 Bộ TTL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82656" y="1523250"/>
              <a:ext cx="3948408" cy="1742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2"/>
                </a:lnSpc>
                <a:spcBef>
                  <a:spcPct val="0"/>
                </a:spcBef>
              </a:pPr>
              <a:r>
                <a:rPr lang="en-US" b="true" sz="250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Lưu</a:t>
              </a:r>
              <a:r>
                <a:rPr lang="en-US" b="true" sz="2501">
                  <a:solidFill>
                    <a:srgbClr val="30387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 cache kèm thời gian tự động hết hạn.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7401" y="5521051"/>
            <a:ext cx="1876990" cy="1398357"/>
          </a:xfrm>
          <a:custGeom>
            <a:avLst/>
            <a:gdLst/>
            <a:ahLst/>
            <a:cxnLst/>
            <a:rect r="r" b="b" t="t" l="l"/>
            <a:pathLst>
              <a:path h="1398357" w="1876990">
                <a:moveTo>
                  <a:pt x="0" y="0"/>
                </a:moveTo>
                <a:lnTo>
                  <a:pt x="1876990" y="0"/>
                </a:lnTo>
                <a:lnTo>
                  <a:pt x="1876990" y="1398358"/>
                </a:lnTo>
                <a:lnTo>
                  <a:pt x="0" y="139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70433" y="5360491"/>
            <a:ext cx="3086100" cy="1719478"/>
            <a:chOff x="0" y="0"/>
            <a:chExt cx="812800" cy="4528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52866"/>
            </a:xfrm>
            <a:custGeom>
              <a:avLst/>
              <a:gdLst/>
              <a:ahLst/>
              <a:cxnLst/>
              <a:rect r="r" b="b" t="t" l="l"/>
              <a:pathLst>
                <a:path h="45286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24926"/>
                  </a:lnTo>
                  <a:cubicBezTo>
                    <a:pt x="812800" y="395585"/>
                    <a:pt x="755519" y="452866"/>
                    <a:pt x="684859" y="452866"/>
                  </a:cubicBezTo>
                  <a:lnTo>
                    <a:pt x="127941" y="452866"/>
                  </a:lnTo>
                  <a:cubicBezTo>
                    <a:pt x="94009" y="452866"/>
                    <a:pt x="61467" y="439387"/>
                    <a:pt x="37473" y="415394"/>
                  </a:cubicBezTo>
                  <a:cubicBezTo>
                    <a:pt x="13479" y="391400"/>
                    <a:pt x="0" y="358858"/>
                    <a:pt x="0" y="32492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C5C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33350"/>
              <a:ext cx="812800" cy="586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3"/>
                </a:lnSpc>
              </a:pPr>
            </a:p>
            <a:p>
              <a:pPr algn="ctr">
                <a:lnSpc>
                  <a:spcPts val="4655"/>
                </a:lnSpc>
              </a:pPr>
              <a:r>
                <a:rPr lang="en-US" b="true" sz="2722" spc="149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Load Balancer</a:t>
              </a:r>
            </a:p>
            <a:p>
              <a:pPr algn="ctr">
                <a:lnSpc>
                  <a:spcPts val="362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3740" y="286743"/>
            <a:ext cx="16393604" cy="35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75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MÔ HÌNH SESSION STORAGE ĐA MÁY CHỦ</a:t>
            </a:r>
          </a:p>
          <a:p>
            <a:pPr algn="l">
              <a:lnSpc>
                <a:spcPts val="8632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8299411" y="3060680"/>
            <a:ext cx="2444627" cy="1783263"/>
            <a:chOff x="0" y="0"/>
            <a:chExt cx="643852" cy="469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3852" cy="469666"/>
            </a:xfrm>
            <a:custGeom>
              <a:avLst/>
              <a:gdLst/>
              <a:ahLst/>
              <a:cxnLst/>
              <a:rect r="r" b="b" t="t" l="l"/>
              <a:pathLst>
                <a:path h="469666" w="643852">
                  <a:moveTo>
                    <a:pt x="161513" y="0"/>
                  </a:moveTo>
                  <a:lnTo>
                    <a:pt x="482340" y="0"/>
                  </a:lnTo>
                  <a:cubicBezTo>
                    <a:pt x="571541" y="0"/>
                    <a:pt x="643852" y="72312"/>
                    <a:pt x="643852" y="161513"/>
                  </a:cubicBezTo>
                  <a:lnTo>
                    <a:pt x="643852" y="308153"/>
                  </a:lnTo>
                  <a:cubicBezTo>
                    <a:pt x="643852" y="397354"/>
                    <a:pt x="571541" y="469666"/>
                    <a:pt x="482340" y="469666"/>
                  </a:cubicBezTo>
                  <a:lnTo>
                    <a:pt x="161513" y="469666"/>
                  </a:lnTo>
                  <a:cubicBezTo>
                    <a:pt x="72312" y="469666"/>
                    <a:pt x="0" y="397354"/>
                    <a:pt x="0" y="308153"/>
                  </a:cubicBezTo>
                  <a:lnTo>
                    <a:pt x="0" y="161513"/>
                  </a:lnTo>
                  <a:cubicBezTo>
                    <a:pt x="0" y="72312"/>
                    <a:pt x="72312" y="0"/>
                    <a:pt x="161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33350"/>
              <a:ext cx="643852" cy="60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3"/>
                </a:lnSpc>
              </a:pPr>
              <a:r>
                <a:rPr lang="en-US" sz="2522" spc="138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Server A</a:t>
              </a:r>
            </a:p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99411" y="5384578"/>
            <a:ext cx="2444627" cy="1783263"/>
            <a:chOff x="0" y="0"/>
            <a:chExt cx="643852" cy="4696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3852" cy="469666"/>
            </a:xfrm>
            <a:custGeom>
              <a:avLst/>
              <a:gdLst/>
              <a:ahLst/>
              <a:cxnLst/>
              <a:rect r="r" b="b" t="t" l="l"/>
              <a:pathLst>
                <a:path h="469666" w="643852">
                  <a:moveTo>
                    <a:pt x="161513" y="0"/>
                  </a:moveTo>
                  <a:lnTo>
                    <a:pt x="482340" y="0"/>
                  </a:lnTo>
                  <a:cubicBezTo>
                    <a:pt x="571541" y="0"/>
                    <a:pt x="643852" y="72312"/>
                    <a:pt x="643852" y="161513"/>
                  </a:cubicBezTo>
                  <a:lnTo>
                    <a:pt x="643852" y="308153"/>
                  </a:lnTo>
                  <a:cubicBezTo>
                    <a:pt x="643852" y="397354"/>
                    <a:pt x="571541" y="469666"/>
                    <a:pt x="482340" y="469666"/>
                  </a:cubicBezTo>
                  <a:lnTo>
                    <a:pt x="161513" y="469666"/>
                  </a:lnTo>
                  <a:cubicBezTo>
                    <a:pt x="72312" y="469666"/>
                    <a:pt x="0" y="397354"/>
                    <a:pt x="0" y="308153"/>
                  </a:cubicBezTo>
                  <a:lnTo>
                    <a:pt x="0" y="161513"/>
                  </a:lnTo>
                  <a:cubicBezTo>
                    <a:pt x="0" y="72312"/>
                    <a:pt x="72312" y="0"/>
                    <a:pt x="161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643852" cy="583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2"/>
                </a:lnSpc>
              </a:pPr>
              <a:r>
                <a:rPr lang="en-US" sz="2422" spc="133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Server 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99411" y="8128543"/>
            <a:ext cx="2444627" cy="1783263"/>
            <a:chOff x="0" y="0"/>
            <a:chExt cx="643852" cy="4696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3852" cy="469666"/>
            </a:xfrm>
            <a:custGeom>
              <a:avLst/>
              <a:gdLst/>
              <a:ahLst/>
              <a:cxnLst/>
              <a:rect r="r" b="b" t="t" l="l"/>
              <a:pathLst>
                <a:path h="469666" w="643852">
                  <a:moveTo>
                    <a:pt x="161513" y="0"/>
                  </a:moveTo>
                  <a:lnTo>
                    <a:pt x="482340" y="0"/>
                  </a:lnTo>
                  <a:cubicBezTo>
                    <a:pt x="571541" y="0"/>
                    <a:pt x="643852" y="72312"/>
                    <a:pt x="643852" y="161513"/>
                  </a:cubicBezTo>
                  <a:lnTo>
                    <a:pt x="643852" y="308153"/>
                  </a:lnTo>
                  <a:cubicBezTo>
                    <a:pt x="643852" y="397354"/>
                    <a:pt x="571541" y="469666"/>
                    <a:pt x="482340" y="469666"/>
                  </a:cubicBezTo>
                  <a:lnTo>
                    <a:pt x="161513" y="469666"/>
                  </a:lnTo>
                  <a:cubicBezTo>
                    <a:pt x="72312" y="469666"/>
                    <a:pt x="0" y="397354"/>
                    <a:pt x="0" y="308153"/>
                  </a:cubicBezTo>
                  <a:lnTo>
                    <a:pt x="0" y="161513"/>
                  </a:lnTo>
                  <a:cubicBezTo>
                    <a:pt x="0" y="72312"/>
                    <a:pt x="72312" y="0"/>
                    <a:pt x="16151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643852" cy="583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2"/>
                </a:lnSpc>
              </a:pPr>
              <a:r>
                <a:rPr lang="en-US" sz="2422" spc="133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Server 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86361" y="4679845"/>
            <a:ext cx="3590983" cy="3192729"/>
            <a:chOff x="0" y="0"/>
            <a:chExt cx="945773" cy="8408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5773" cy="840883"/>
            </a:xfrm>
            <a:custGeom>
              <a:avLst/>
              <a:gdLst/>
              <a:ahLst/>
              <a:cxnLst/>
              <a:rect r="r" b="b" t="t" l="l"/>
              <a:pathLst>
                <a:path h="840883" w="945773">
                  <a:moveTo>
                    <a:pt x="109953" y="0"/>
                  </a:moveTo>
                  <a:lnTo>
                    <a:pt x="835821" y="0"/>
                  </a:lnTo>
                  <a:cubicBezTo>
                    <a:pt x="896546" y="0"/>
                    <a:pt x="945773" y="49227"/>
                    <a:pt x="945773" y="109953"/>
                  </a:cubicBezTo>
                  <a:lnTo>
                    <a:pt x="945773" y="730931"/>
                  </a:lnTo>
                  <a:cubicBezTo>
                    <a:pt x="945773" y="791656"/>
                    <a:pt x="896546" y="840883"/>
                    <a:pt x="835821" y="840883"/>
                  </a:cubicBezTo>
                  <a:lnTo>
                    <a:pt x="109953" y="840883"/>
                  </a:lnTo>
                  <a:cubicBezTo>
                    <a:pt x="49227" y="840883"/>
                    <a:pt x="0" y="791656"/>
                    <a:pt x="0" y="730931"/>
                  </a:cubicBezTo>
                  <a:lnTo>
                    <a:pt x="0" y="109953"/>
                  </a:lnTo>
                  <a:cubicBezTo>
                    <a:pt x="0" y="49227"/>
                    <a:pt x="49227" y="0"/>
                    <a:pt x="109953" y="0"/>
                  </a:cubicBezTo>
                  <a:close/>
                </a:path>
              </a:pathLst>
            </a:custGeom>
            <a:solidFill>
              <a:srgbClr val="F0D8C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42875"/>
              <a:ext cx="945773" cy="983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68"/>
                </a:lnSpc>
              </a:pPr>
              <a:r>
                <a:rPr lang="en-US" b="true" sz="3022" spc="166">
                  <a:solidFill>
                    <a:srgbClr val="F68D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Redis </a:t>
              </a:r>
            </a:p>
            <a:p>
              <a:pPr algn="ctr">
                <a:lnSpc>
                  <a:spcPts val="5168"/>
                </a:lnSpc>
              </a:pPr>
              <a:r>
                <a:rPr lang="en-US" b="true" sz="3022" spc="166">
                  <a:solidFill>
                    <a:srgbClr val="F68D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Session Cluster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2214391" y="6220230"/>
            <a:ext cx="956042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6256533" y="3952312"/>
            <a:ext cx="2042878" cy="2267918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6256533" y="6220230"/>
            <a:ext cx="2042878" cy="5597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6256533" y="6220230"/>
            <a:ext cx="2042878" cy="2799944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0744037" y="6276209"/>
            <a:ext cx="2642323" cy="0"/>
          </a:xfrm>
          <a:prstGeom prst="line">
            <a:avLst/>
          </a:prstGeom>
          <a:ln cap="flat" w="85725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 flipV="true">
            <a:off x="10744037" y="6276209"/>
            <a:ext cx="2114455" cy="2743965"/>
          </a:xfrm>
          <a:prstGeom prst="line">
            <a:avLst/>
          </a:prstGeom>
          <a:ln cap="flat" w="10477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744037" y="3952312"/>
            <a:ext cx="2114455" cy="2323898"/>
          </a:xfrm>
          <a:prstGeom prst="line">
            <a:avLst/>
          </a:prstGeom>
          <a:ln cap="flat" w="10477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159" y="1322997"/>
            <a:ext cx="17149491" cy="8332941"/>
          </a:xfrm>
          <a:custGeom>
            <a:avLst/>
            <a:gdLst/>
            <a:ahLst/>
            <a:cxnLst/>
            <a:rect r="r" b="b" t="t" l="l"/>
            <a:pathLst>
              <a:path h="8332941" w="17149491">
                <a:moveTo>
                  <a:pt x="0" y="0"/>
                </a:moveTo>
                <a:lnTo>
                  <a:pt x="17149490" y="0"/>
                </a:lnTo>
                <a:lnTo>
                  <a:pt x="17149490" y="8332941"/>
                </a:lnTo>
                <a:lnTo>
                  <a:pt x="0" y="8332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0882" y="82485"/>
            <a:ext cx="16230600" cy="94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4"/>
              </a:lnSpc>
            </a:pPr>
            <a:r>
              <a:rPr lang="en-US" sz="5425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REDIS VS MEMCACHED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24103" y="2469880"/>
            <a:ext cx="12117745" cy="21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6"/>
              </a:lnSpc>
            </a:pPr>
            <a:r>
              <a:rPr lang="en-US" sz="12277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241414" y="4863370"/>
            <a:ext cx="5681930" cy="994857"/>
            <a:chOff x="0" y="0"/>
            <a:chExt cx="1260755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0755" cy="220747"/>
            </a:xfrm>
            <a:custGeom>
              <a:avLst/>
              <a:gdLst/>
              <a:ahLst/>
              <a:cxnLst/>
              <a:rect r="r" b="b" t="t" l="l"/>
              <a:pathLst>
                <a:path h="220747" w="1260755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260755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598318" y="4993129"/>
            <a:ext cx="4968122" cy="65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Thanks For Watching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288" y="7554207"/>
            <a:ext cx="8077632" cy="250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873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Nếu còn gì thắc mắc sau buổi seminar các bạn có thể liên hệ chúng mình:</a:t>
            </a:r>
          </a:p>
          <a:p>
            <a:pPr algn="ctr">
              <a:lnSpc>
                <a:spcPts val="4023"/>
              </a:lnSpc>
            </a:pPr>
            <a:r>
              <a:rPr lang="en-US" sz="2873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524k0033</a:t>
            </a:r>
            <a:r>
              <a:rPr lang="en-US" sz="2873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@student.tdtu.edu.vn</a:t>
            </a:r>
          </a:p>
          <a:p>
            <a:pPr algn="ctr">
              <a:lnSpc>
                <a:spcPts val="4023"/>
              </a:lnSpc>
            </a:pPr>
            <a:r>
              <a:rPr lang="en-US" sz="2873">
                <a:solidFill>
                  <a:srgbClr val="303870"/>
                </a:solidFill>
                <a:latin typeface="Noto Sans"/>
                <a:ea typeface="Noto Sans"/>
                <a:cs typeface="Noto Sans"/>
                <a:sym typeface="Noto Sans"/>
              </a:rPr>
              <a:t>524k0032@student.tdtu.edu.vn 524v0007@student.tdtu.edu.vn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DAHXJPnrGy8</dc:identifier>
  <dcterms:modified xsi:type="dcterms:W3CDTF">2011-08-01T06:04:30Z</dcterms:modified>
  <cp:revision>1</cp:revision>
  <dc:title>Seminar SOA _ REDIS</dc:title>
</cp:coreProperties>
</file>